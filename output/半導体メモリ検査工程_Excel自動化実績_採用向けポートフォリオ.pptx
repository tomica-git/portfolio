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Tomica-git/portfolio#readme"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2F5D8A"/>
          </a:solidFill>
          <a:ln/>
        </p:spPr>
      </p:sp>
      <p:sp>
        <p:nvSpPr>
          <p:cNvPr id="3" name="Shape 1"/>
          <p:cNvSpPr/>
          <p:nvPr/>
        </p:nvSpPr>
        <p:spPr>
          <a:xfrm>
            <a:off x="457200" y="393192"/>
            <a:ext cx="182880" cy="21946"/>
          </a:xfrm>
          <a:prstGeom prst="rect">
            <a:avLst/>
          </a:prstGeom>
          <a:solidFill>
            <a:srgbClr val="2F5D8A"/>
          </a:solidFill>
          <a:ln/>
        </p:spPr>
      </p:sp>
      <p:sp>
        <p:nvSpPr>
          <p:cNvPr id="4" name="Text 2"/>
          <p:cNvSpPr/>
          <p:nvPr/>
        </p:nvSpPr>
        <p:spPr>
          <a:xfrm>
            <a:off x="694944" y="274320"/>
            <a:ext cx="5029200" cy="256032"/>
          </a:xfrm>
          <a:prstGeom prst="rect">
            <a:avLst/>
          </a:prstGeom>
          <a:noFill/>
          <a:ln/>
        </p:spPr>
        <p:txBody>
          <a:bodyPr wrap="square" lIns="0" tIns="0" rIns="0" bIns="0" rtlCol="0" anchor="ctr"/>
          <a:lstStyle/>
          <a:p>
            <a:pPr indent="0" marL="0">
              <a:buNone/>
            </a:pPr>
            <a:r>
              <a:rPr lang="en-US" sz="1050" b="1" spc="100" kern="0" dirty="0">
                <a:solidFill>
                  <a:srgbClr val="2F5D8A"/>
                </a:solidFill>
                <a:latin typeface="Yu Gothic" pitchFamily="34" charset="0"/>
                <a:ea typeface="Yu Gothic" pitchFamily="34" charset="-122"/>
                <a:cs typeface="Yu Gothic" pitchFamily="34" charset="-120"/>
              </a:rPr>
              <a:t>採用向けポートフォリオ｜業務改善ケーススタディ</a:t>
            </a:r>
            <a:endParaRPr lang="en-US" sz="1050" dirty="0"/>
          </a:p>
        </p:txBody>
      </p:sp>
      <p:sp>
        <p:nvSpPr>
          <p:cNvPr id="5" name="Text 3"/>
          <p:cNvSpPr/>
          <p:nvPr/>
        </p:nvSpPr>
        <p:spPr>
          <a:xfrm>
            <a:off x="5486400" y="274320"/>
            <a:ext cx="3200400" cy="256032"/>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半導体メモリ検査工程</a:t>
            </a:r>
            <a:endParaRPr lang="en-US" sz="800" dirty="0"/>
          </a:p>
        </p:txBody>
      </p:sp>
      <p:sp>
        <p:nvSpPr>
          <p:cNvPr id="6" name="Text 4"/>
          <p:cNvSpPr/>
          <p:nvPr/>
        </p:nvSpPr>
        <p:spPr>
          <a:xfrm>
            <a:off x="457200" y="749808"/>
            <a:ext cx="8229600" cy="1005840"/>
          </a:xfrm>
          <a:prstGeom prst="rect">
            <a:avLst/>
          </a:prstGeom>
          <a:noFill/>
          <a:ln/>
        </p:spPr>
        <p:txBody>
          <a:bodyPr wrap="square" lIns="0" tIns="0" rIns="0" bIns="0" rtlCol="0" anchor="t"/>
          <a:lstStyle/>
          <a:p>
            <a:pPr indent="0" marL="0">
              <a:lnSpc>
                <a:spcPct val="125000"/>
              </a:lnSpc>
              <a:buNone/>
            </a:pPr>
            <a:r>
              <a:rPr lang="en-US" sz="2200" b="1" dirty="0">
                <a:solidFill>
                  <a:srgbClr val="1F2933"/>
                </a:solidFill>
                <a:latin typeface="Yu Gothic" pitchFamily="34" charset="0"/>
                <a:ea typeface="Yu Gothic" pitchFamily="34" charset="-122"/>
                <a:cs typeface="Yu Gothic" pitchFamily="34" charset="-120"/>
              </a:rPr>
              <a:t>属人的な“探す・読む・転記する”検査記録作業を、</a:t>
            </a:r>
            <a:endParaRPr lang="en-US" sz="2200" dirty="0"/>
          </a:p>
          <a:p>
            <a:pPr indent="0" marL="0">
              <a:lnSpc>
                <a:spcPct val="125000"/>
              </a:lnSpc>
              <a:buNone/>
            </a:pPr>
            <a:r>
              <a:rPr lang="en-US" sz="2200" b="1" dirty="0">
                <a:solidFill>
                  <a:srgbClr val="1F2933"/>
                </a:solidFill>
                <a:latin typeface="Yu Gothic" pitchFamily="34" charset="0"/>
                <a:ea typeface="Yu Gothic" pitchFamily="34" charset="-122"/>
                <a:cs typeface="Yu Gothic" pitchFamily="34" charset="-120"/>
              </a:rPr>
              <a:t>再現できる業務フローへ整理したExcel自動化</a:t>
            </a:r>
            <a:endParaRPr lang="en-US" sz="2200" dirty="0"/>
          </a:p>
        </p:txBody>
      </p:sp>
      <p:sp>
        <p:nvSpPr>
          <p:cNvPr id="7" name="Text 5"/>
          <p:cNvSpPr/>
          <p:nvPr/>
        </p:nvSpPr>
        <p:spPr>
          <a:xfrm>
            <a:off x="457200" y="1847088"/>
            <a:ext cx="8229600" cy="274320"/>
          </a:xfrm>
          <a:prstGeom prst="rect">
            <a:avLst/>
          </a:prstGeom>
          <a:noFill/>
          <a:ln/>
        </p:spPr>
        <p:txBody>
          <a:bodyPr wrap="square" lIns="0" tIns="0" rIns="0" bIns="0" rtlCol="0" anchor="ctr"/>
          <a:lstStyle/>
          <a:p>
            <a:pPr indent="0" marL="0">
              <a:buNone/>
            </a:pPr>
            <a:r>
              <a:rPr lang="en-US" sz="1100" dirty="0">
                <a:solidFill>
                  <a:srgbClr val="5C6770"/>
                </a:solidFill>
                <a:latin typeface="Yu Gothic" pitchFamily="34" charset="0"/>
                <a:ea typeface="Yu Gothic" pitchFamily="34" charset="-122"/>
                <a:cs typeface="Yu Gothic" pitchFamily="34" charset="-120"/>
              </a:rPr>
              <a:t>半導体メモリ検査工程の破断面観察業務で、画像ファイル名と管理台帳をつなぐ仕組みを設計した改善事例です。</a:t>
            </a:r>
            <a:endParaRPr lang="en-US" sz="1100" dirty="0"/>
          </a:p>
        </p:txBody>
      </p:sp>
      <p:sp>
        <p:nvSpPr>
          <p:cNvPr id="8" name="Shape 6"/>
          <p:cNvSpPr/>
          <p:nvPr/>
        </p:nvSpPr>
        <p:spPr>
          <a:xfrm>
            <a:off x="457200" y="2377440"/>
            <a:ext cx="2240280" cy="1188720"/>
          </a:xfrm>
          <a:prstGeom prst="roundRect">
            <a:avLst>
              <a:gd name="adj" fmla="val 5385"/>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9" name="Text 7"/>
          <p:cNvSpPr/>
          <p:nvPr/>
        </p:nvSpPr>
        <p:spPr>
          <a:xfrm>
            <a:off x="658368" y="2542032"/>
            <a:ext cx="1828800" cy="219456"/>
          </a:xfrm>
          <a:prstGeom prst="rect">
            <a:avLst/>
          </a:prstGeom>
          <a:noFill/>
          <a:ln/>
        </p:spPr>
        <p:txBody>
          <a:bodyPr wrap="square" lIns="0" tIns="0" rIns="0" bIns="0" rtlCol="0" anchor="ctr"/>
          <a:lstStyle/>
          <a:p>
            <a:pPr indent="0" marL="0">
              <a:buNone/>
            </a:pPr>
            <a:r>
              <a:rPr lang="en-US" sz="950" dirty="0">
                <a:solidFill>
                  <a:srgbClr val="5C6770"/>
                </a:solidFill>
                <a:latin typeface="Yu Gothic" pitchFamily="34" charset="0"/>
                <a:ea typeface="Yu Gothic" pitchFamily="34" charset="-122"/>
                <a:cs typeface="Yu Gothic" pitchFamily="34" charset="-120"/>
              </a:rPr>
              <a:t>改善前</a:t>
            </a:r>
            <a:endParaRPr lang="en-US" sz="950" dirty="0"/>
          </a:p>
        </p:txBody>
      </p:sp>
      <p:sp>
        <p:nvSpPr>
          <p:cNvPr id="10" name="Text 8"/>
          <p:cNvSpPr/>
          <p:nvPr/>
        </p:nvSpPr>
        <p:spPr>
          <a:xfrm>
            <a:off x="658368" y="2852928"/>
            <a:ext cx="1920240" cy="457200"/>
          </a:xfrm>
          <a:prstGeom prst="rect">
            <a:avLst/>
          </a:prstGeom>
          <a:noFill/>
          <a:ln/>
        </p:spPr>
        <p:txBody>
          <a:bodyPr wrap="square" lIns="0" tIns="0" rIns="0" bIns="0" rtlCol="0" anchor="ctr"/>
          <a:lstStyle/>
          <a:p>
            <a:pPr indent="0" marL="0">
              <a:buNone/>
            </a:pPr>
            <a:r>
              <a:rPr lang="en-US" sz="1700" b="1" dirty="0">
                <a:solidFill>
                  <a:srgbClr val="1F2933"/>
                </a:solidFill>
                <a:latin typeface="Yu Gothic" pitchFamily="34" charset="0"/>
                <a:ea typeface="Yu Gothic" pitchFamily="34" charset="-122"/>
                <a:cs typeface="Yu Gothic" pitchFamily="34" charset="-120"/>
              </a:rPr>
              <a:t>手作業 3〜4時間</a:t>
            </a:r>
            <a:endParaRPr lang="en-US" sz="1700" dirty="0"/>
          </a:p>
        </p:txBody>
      </p:sp>
      <p:sp>
        <p:nvSpPr>
          <p:cNvPr id="11" name="Text 9"/>
          <p:cNvSpPr/>
          <p:nvPr/>
        </p:nvSpPr>
        <p:spPr>
          <a:xfrm>
            <a:off x="2724912" y="2377440"/>
            <a:ext cx="457200" cy="1188720"/>
          </a:xfrm>
          <a:prstGeom prst="rect">
            <a:avLst/>
          </a:prstGeom>
          <a:noFill/>
          <a:ln/>
        </p:spPr>
        <p:txBody>
          <a:bodyPr wrap="square" lIns="0" tIns="0" rIns="0" bIns="0" rtlCol="0" anchor="ctr"/>
          <a:lstStyle/>
          <a:p>
            <a:pPr algn="ctr" indent="0" marL="0">
              <a:buNone/>
            </a:pPr>
            <a:r>
              <a:rPr lang="en-US" sz="2200" b="1" dirty="0">
                <a:solidFill>
                  <a:srgbClr val="2F8A7D"/>
                </a:solidFill>
                <a:latin typeface="Yu Gothic" pitchFamily="34" charset="0"/>
                <a:ea typeface="Yu Gothic" pitchFamily="34" charset="-122"/>
                <a:cs typeface="Yu Gothic" pitchFamily="34" charset="-120"/>
              </a:rPr>
              <a:t>→</a:t>
            </a:r>
            <a:endParaRPr lang="en-US" sz="2200" dirty="0"/>
          </a:p>
        </p:txBody>
      </p:sp>
      <p:sp>
        <p:nvSpPr>
          <p:cNvPr id="12" name="Shape 10"/>
          <p:cNvSpPr/>
          <p:nvPr/>
        </p:nvSpPr>
        <p:spPr>
          <a:xfrm>
            <a:off x="3200400" y="2377440"/>
            <a:ext cx="2011680" cy="1188720"/>
          </a:xfrm>
          <a:prstGeom prst="roundRect">
            <a:avLst>
              <a:gd name="adj" fmla="val 5385"/>
            </a:avLst>
          </a:prstGeom>
          <a:solidFill>
            <a:srgbClr val="2F5D8A"/>
          </a:solidFill>
          <a:ln w="12700">
            <a:solidFill>
              <a:srgbClr val="2F5D8A"/>
            </a:solidFill>
            <a:prstDash val="solid"/>
          </a:ln>
          <a:effectLst>
            <a:outerShdw sx="100000" sy="100000" kx="0" ky="0" algn="bl" rotWithShape="0" blurRad="88900" dist="25400" dir="8100000">
              <a:srgbClr val="1F2933">
                <a:alpha val="10000"/>
              </a:srgbClr>
            </a:outerShdw>
          </a:effectLst>
        </p:spPr>
      </p:sp>
      <p:sp>
        <p:nvSpPr>
          <p:cNvPr id="13" name="Text 11"/>
          <p:cNvSpPr/>
          <p:nvPr/>
        </p:nvSpPr>
        <p:spPr>
          <a:xfrm>
            <a:off x="3401568" y="2542032"/>
            <a:ext cx="1645920" cy="219456"/>
          </a:xfrm>
          <a:prstGeom prst="rect">
            <a:avLst/>
          </a:prstGeom>
          <a:noFill/>
          <a:ln/>
        </p:spPr>
        <p:txBody>
          <a:bodyPr wrap="square" lIns="0" tIns="0" rIns="0" bIns="0" rtlCol="0" anchor="ctr"/>
          <a:lstStyle/>
          <a:p>
            <a:pPr indent="0" marL="0">
              <a:buNone/>
            </a:pPr>
            <a:r>
              <a:rPr lang="en-US" sz="950" dirty="0">
                <a:solidFill>
                  <a:srgbClr val="CFDDED"/>
                </a:solidFill>
                <a:latin typeface="Yu Gothic" pitchFamily="34" charset="0"/>
                <a:ea typeface="Yu Gothic" pitchFamily="34" charset="-122"/>
                <a:cs typeface="Yu Gothic" pitchFamily="34" charset="-120"/>
              </a:rPr>
              <a:t>改善後</a:t>
            </a:r>
            <a:endParaRPr lang="en-US" sz="950" dirty="0"/>
          </a:p>
        </p:txBody>
      </p:sp>
      <p:sp>
        <p:nvSpPr>
          <p:cNvPr id="14" name="Text 12"/>
          <p:cNvSpPr/>
          <p:nvPr/>
        </p:nvSpPr>
        <p:spPr>
          <a:xfrm>
            <a:off x="3401568" y="2816352"/>
            <a:ext cx="1645920" cy="548640"/>
          </a:xfrm>
          <a:prstGeom prst="rect">
            <a:avLst/>
          </a:prstGeom>
          <a:noFill/>
          <a:ln/>
        </p:spPr>
        <p:txBody>
          <a:bodyPr wrap="square" lIns="0" tIns="0" rIns="0" bIns="0" rtlCol="0" anchor="ctr"/>
          <a:lstStyle/>
          <a:p>
            <a:pPr indent="0" marL="0">
              <a:buNone/>
            </a:pPr>
            <a:r>
              <a:rPr lang="en-US" sz="2600" b="1" dirty="0">
                <a:solidFill>
                  <a:srgbClr val="FFFFFF"/>
                </a:solidFill>
                <a:latin typeface="Yu Gothic" pitchFamily="34" charset="0"/>
                <a:ea typeface="Yu Gothic" pitchFamily="34" charset="-122"/>
                <a:cs typeface="Yu Gothic" pitchFamily="34" charset="-120"/>
              </a:rPr>
              <a:t>約45分</a:t>
            </a:r>
            <a:endParaRPr lang="en-US" sz="2600" dirty="0"/>
          </a:p>
        </p:txBody>
      </p:sp>
      <p:sp>
        <p:nvSpPr>
          <p:cNvPr id="15" name="Shape 13"/>
          <p:cNvSpPr/>
          <p:nvPr/>
        </p:nvSpPr>
        <p:spPr>
          <a:xfrm>
            <a:off x="5413248" y="2377440"/>
            <a:ext cx="3273552" cy="1188720"/>
          </a:xfrm>
          <a:prstGeom prst="roundRect">
            <a:avLst>
              <a:gd name="adj" fmla="val 5385"/>
            </a:avLst>
          </a:prstGeom>
          <a:solidFill>
            <a:srgbClr val="ECF5F3"/>
          </a:solidFill>
          <a:ln w="12700">
            <a:solidFill>
              <a:srgbClr val="CDE4DF"/>
            </a:solidFill>
            <a:prstDash val="solid"/>
          </a:ln>
          <a:effectLst>
            <a:outerShdw sx="100000" sy="100000" kx="0" ky="0" algn="bl" rotWithShape="0" blurRad="88900" dist="25400" dir="8100000">
              <a:srgbClr val="1F2933">
                <a:alpha val="10000"/>
              </a:srgbClr>
            </a:outerShdw>
          </a:effectLst>
        </p:spPr>
      </p:sp>
      <p:sp>
        <p:nvSpPr>
          <p:cNvPr id="16" name="Text 14"/>
          <p:cNvSpPr/>
          <p:nvPr/>
        </p:nvSpPr>
        <p:spPr>
          <a:xfrm>
            <a:off x="5614416" y="2523744"/>
            <a:ext cx="2834640" cy="219456"/>
          </a:xfrm>
          <a:prstGeom prst="rect">
            <a:avLst/>
          </a:prstGeom>
          <a:noFill/>
          <a:ln/>
        </p:spPr>
        <p:txBody>
          <a:bodyPr wrap="square" lIns="0" tIns="0" rIns="0" bIns="0" rtlCol="0" anchor="ctr"/>
          <a:lstStyle/>
          <a:p>
            <a:pPr indent="0" marL="0">
              <a:buNone/>
            </a:pPr>
            <a:r>
              <a:rPr lang="en-US" sz="950" b="1" dirty="0">
                <a:solidFill>
                  <a:srgbClr val="2F8A7D"/>
                </a:solidFill>
                <a:latin typeface="Yu Gothic" pitchFamily="34" charset="0"/>
                <a:ea typeface="Yu Gothic" pitchFamily="34" charset="-122"/>
                <a:cs typeface="Yu Gothic" pitchFamily="34" charset="-120"/>
              </a:rPr>
              <a:t>作業の中心の変化</a:t>
            </a:r>
            <a:endParaRPr lang="en-US" sz="950" dirty="0"/>
          </a:p>
        </p:txBody>
      </p:sp>
      <p:sp>
        <p:nvSpPr>
          <p:cNvPr id="17" name="Text 15"/>
          <p:cNvSpPr/>
          <p:nvPr/>
        </p:nvSpPr>
        <p:spPr>
          <a:xfrm>
            <a:off x="5614416" y="2788920"/>
            <a:ext cx="2926080" cy="640080"/>
          </a:xfrm>
          <a:prstGeom prst="rect">
            <a:avLst/>
          </a:prstGeom>
          <a:noFill/>
          <a:ln/>
        </p:spPr>
        <p:txBody>
          <a:bodyPr wrap="square" lIns="0" tIns="0" rIns="0" bIns="0" rtlCol="0" anchor="ctr"/>
          <a:lstStyle/>
          <a:p>
            <a:pPr indent="0" marL="0">
              <a:lnSpc>
                <a:spcPct val="125000"/>
              </a:lnSpc>
              <a:buNone/>
            </a:pPr>
            <a:r>
              <a:rPr lang="en-US" sz="1250" b="1" dirty="0">
                <a:solidFill>
                  <a:srgbClr val="1F2933"/>
                </a:solidFill>
                <a:latin typeface="Yu Gothic" pitchFamily="34" charset="0"/>
                <a:ea typeface="Yu Gothic" pitchFamily="34" charset="-122"/>
                <a:cs typeface="Yu Gothic" pitchFamily="34" charset="-120"/>
              </a:rPr>
              <a:t>「探して転記する」から</a:t>
            </a:r>
            <a:endParaRPr lang="en-US" sz="1250" dirty="0"/>
          </a:p>
          <a:p>
            <a:pPr indent="0" marL="0">
              <a:lnSpc>
                <a:spcPct val="125000"/>
              </a:lnSpc>
              <a:buNone/>
            </a:pPr>
            <a:r>
              <a:rPr lang="en-US" sz="1250" b="1" dirty="0">
                <a:solidFill>
                  <a:srgbClr val="1F2933"/>
                </a:solidFill>
                <a:latin typeface="Yu Gothic" pitchFamily="34" charset="0"/>
                <a:ea typeface="Yu Gothic" pitchFamily="34" charset="-122"/>
                <a:cs typeface="Yu Gothic" pitchFamily="34" charset="-120"/>
              </a:rPr>
              <a:t>「結果を確認する」へ</a:t>
            </a:r>
            <a:endParaRPr lang="en-US" sz="1250" dirty="0"/>
          </a:p>
        </p:txBody>
      </p:sp>
      <p:sp>
        <p:nvSpPr>
          <p:cNvPr id="18" name="Text 16"/>
          <p:cNvSpPr/>
          <p:nvPr/>
        </p:nvSpPr>
        <p:spPr>
          <a:xfrm>
            <a:off x="457200" y="3886200"/>
            <a:ext cx="963168" cy="310896"/>
          </a:xfrm>
          <a:prstGeom prst="roundRect">
            <a:avLst>
              <a:gd name="adj" fmla="val 50000"/>
            </a:avLst>
          </a:prstGeom>
          <a:solidFill>
            <a:srgbClr val="EEF3F8"/>
          </a:solidFill>
          <a:ln w="9525">
            <a:solidFill>
              <a:srgbClr val="D3E0EC"/>
            </a:solidFill>
          </a:ln>
        </p:spPr>
        <p:txBody>
          <a:bodyPr wrap="square" lIns="0" tIns="0" rIns="0" bIns="0" rtlCol="0" anchor="ctr"/>
          <a:lstStyle/>
          <a:p>
            <a:pPr algn="ctr" indent="0" marL="0">
              <a:buNone/>
            </a:pPr>
            <a:r>
              <a:rPr lang="en-US" sz="950" dirty="0">
                <a:solidFill>
                  <a:srgbClr val="2F5D8A"/>
                </a:solidFill>
                <a:latin typeface="Yu Gothic" pitchFamily="34" charset="0"/>
                <a:ea typeface="Yu Gothic" pitchFamily="34" charset="-122"/>
                <a:cs typeface="Yu Gothic" pitchFamily="34" charset="-120"/>
              </a:rPr>
              <a:t>Excel関数</a:t>
            </a:r>
            <a:endParaRPr lang="en-US" sz="950" dirty="0"/>
          </a:p>
        </p:txBody>
      </p:sp>
      <p:sp>
        <p:nvSpPr>
          <p:cNvPr id="19" name="Text 17"/>
          <p:cNvSpPr/>
          <p:nvPr/>
        </p:nvSpPr>
        <p:spPr>
          <a:xfrm>
            <a:off x="1548384" y="3886200"/>
            <a:ext cx="586740" cy="310896"/>
          </a:xfrm>
          <a:prstGeom prst="roundRect">
            <a:avLst>
              <a:gd name="adj" fmla="val 50000"/>
            </a:avLst>
          </a:prstGeom>
          <a:solidFill>
            <a:srgbClr val="EEF3F8"/>
          </a:solidFill>
          <a:ln w="9525">
            <a:solidFill>
              <a:srgbClr val="D3E0EC"/>
            </a:solidFill>
          </a:ln>
        </p:spPr>
        <p:txBody>
          <a:bodyPr wrap="square" lIns="0" tIns="0" rIns="0" bIns="0" rtlCol="0" anchor="ctr"/>
          <a:lstStyle/>
          <a:p>
            <a:pPr algn="ctr" indent="0" marL="0">
              <a:buNone/>
            </a:pPr>
            <a:r>
              <a:rPr lang="en-US" sz="950" dirty="0">
                <a:solidFill>
                  <a:srgbClr val="2F5D8A"/>
                </a:solidFill>
                <a:latin typeface="Yu Gothic" pitchFamily="34" charset="0"/>
                <a:ea typeface="Yu Gothic" pitchFamily="34" charset="-122"/>
                <a:cs typeface="Yu Gothic" pitchFamily="34" charset="-120"/>
              </a:rPr>
              <a:t>VBA</a:t>
            </a:r>
            <a:endParaRPr lang="en-US" sz="950" dirty="0"/>
          </a:p>
        </p:txBody>
      </p:sp>
      <p:sp>
        <p:nvSpPr>
          <p:cNvPr id="20" name="Text 18"/>
          <p:cNvSpPr/>
          <p:nvPr/>
        </p:nvSpPr>
        <p:spPr>
          <a:xfrm>
            <a:off x="2263140" y="3886200"/>
            <a:ext cx="1711198" cy="310896"/>
          </a:xfrm>
          <a:prstGeom prst="roundRect">
            <a:avLst>
              <a:gd name="adj" fmla="val 50000"/>
            </a:avLst>
          </a:prstGeom>
          <a:solidFill>
            <a:srgbClr val="EEF3F8"/>
          </a:solidFill>
          <a:ln w="9525">
            <a:solidFill>
              <a:srgbClr val="D3E0EC"/>
            </a:solidFill>
          </a:ln>
        </p:spPr>
        <p:txBody>
          <a:bodyPr wrap="square" lIns="0" tIns="0" rIns="0" bIns="0" rtlCol="0" anchor="ctr"/>
          <a:lstStyle/>
          <a:p>
            <a:pPr algn="ctr" indent="0" marL="0">
              <a:buNone/>
            </a:pPr>
            <a:r>
              <a:rPr lang="en-US" sz="950" dirty="0">
                <a:solidFill>
                  <a:srgbClr val="2F5D8A"/>
                </a:solidFill>
                <a:latin typeface="Yu Gothic" pitchFamily="34" charset="0"/>
                <a:ea typeface="Yu Gothic" pitchFamily="34" charset="-122"/>
                <a:cs typeface="Yu Gothic" pitchFamily="34" charset="-120"/>
              </a:rPr>
              <a:t>ファイル命名規則の設計</a:t>
            </a:r>
            <a:endParaRPr lang="en-US" sz="950" dirty="0"/>
          </a:p>
        </p:txBody>
      </p:sp>
      <p:sp>
        <p:nvSpPr>
          <p:cNvPr id="21" name="Text 19"/>
          <p:cNvSpPr/>
          <p:nvPr/>
        </p:nvSpPr>
        <p:spPr>
          <a:xfrm>
            <a:off x="457200" y="4818888"/>
            <a:ext cx="6949440" cy="219456"/>
          </a:xfrm>
          <a:prstGeom prst="rect">
            <a:avLst/>
          </a:prstGeom>
          <a:noFill/>
          <a:ln/>
        </p:spPr>
        <p:txBody>
          <a:bodyPr wrap="square" lIns="0" tIns="0" rIns="0" bIns="0" rtlCol="0" anchor="ctr"/>
          <a:lstStyle/>
          <a:p>
            <a:pPr indent="0" marL="0">
              <a:buNone/>
            </a:pPr>
            <a:r>
              <a:rPr lang="en-US" sz="750" dirty="0">
                <a:solidFill>
                  <a:srgbClr val="8A949E"/>
                </a:solidFill>
                <a:latin typeface="Yu Gothic" pitchFamily="34" charset="0"/>
                <a:ea typeface="Yu Gothic" pitchFamily="34" charset="-122"/>
                <a:cs typeface="Yu Gothic" pitchFamily="34" charset="-120"/>
              </a:rPr>
              <a:t>本資料は個人ポートフォリオです。特定の企業名・製品名・実測データは含みません。</a:t>
            </a:r>
            <a:endParaRPr lang="en-US" sz="750" dirty="0"/>
          </a:p>
        </p:txBody>
      </p:sp>
      <p:sp>
        <p:nvSpPr>
          <p:cNvPr id="22" name="Text 20"/>
          <p:cNvSpPr/>
          <p:nvPr/>
        </p:nvSpPr>
        <p:spPr>
          <a:xfrm>
            <a:off x="7680960" y="4818888"/>
            <a:ext cx="1005840" cy="219456"/>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01 / 07</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2F5D8A"/>
          </a:solidFill>
          <a:ln/>
        </p:spPr>
      </p:sp>
      <p:sp>
        <p:nvSpPr>
          <p:cNvPr id="3" name="Shape 1"/>
          <p:cNvSpPr/>
          <p:nvPr/>
        </p:nvSpPr>
        <p:spPr>
          <a:xfrm>
            <a:off x="457200" y="393192"/>
            <a:ext cx="182880" cy="21946"/>
          </a:xfrm>
          <a:prstGeom prst="rect">
            <a:avLst/>
          </a:prstGeom>
          <a:solidFill>
            <a:srgbClr val="2F5D8A"/>
          </a:solidFill>
          <a:ln/>
        </p:spPr>
      </p:sp>
      <p:sp>
        <p:nvSpPr>
          <p:cNvPr id="4" name="Text 2"/>
          <p:cNvSpPr/>
          <p:nvPr/>
        </p:nvSpPr>
        <p:spPr>
          <a:xfrm>
            <a:off x="694944" y="274320"/>
            <a:ext cx="5029200" cy="256032"/>
          </a:xfrm>
          <a:prstGeom prst="rect">
            <a:avLst/>
          </a:prstGeom>
          <a:noFill/>
          <a:ln/>
        </p:spPr>
        <p:txBody>
          <a:bodyPr wrap="square" lIns="0" tIns="0" rIns="0" bIns="0" rtlCol="0" anchor="ctr"/>
          <a:lstStyle/>
          <a:p>
            <a:pPr indent="0" marL="0">
              <a:buNone/>
            </a:pPr>
            <a:r>
              <a:rPr lang="en-US" sz="1050" b="1" spc="100" kern="0" dirty="0">
                <a:solidFill>
                  <a:srgbClr val="2F5D8A"/>
                </a:solidFill>
                <a:latin typeface="Yu Gothic" pitchFamily="34" charset="0"/>
                <a:ea typeface="Yu Gothic" pitchFamily="34" charset="-122"/>
                <a:cs typeface="Yu Gothic" pitchFamily="34" charset="-120"/>
              </a:rPr>
              <a:t>02｜業務背景</a:t>
            </a:r>
            <a:endParaRPr lang="en-US" sz="1050" dirty="0"/>
          </a:p>
        </p:txBody>
      </p:sp>
      <p:sp>
        <p:nvSpPr>
          <p:cNvPr id="5" name="Text 3"/>
          <p:cNvSpPr/>
          <p:nvPr/>
        </p:nvSpPr>
        <p:spPr>
          <a:xfrm>
            <a:off x="5486400" y="274320"/>
            <a:ext cx="3200400" cy="256032"/>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検査記録作業のExcel自動化</a:t>
            </a:r>
            <a:endParaRPr lang="en-US" sz="800" dirty="0"/>
          </a:p>
        </p:txBody>
      </p:sp>
      <p:sp>
        <p:nvSpPr>
          <p:cNvPr id="6" name="Text 4"/>
          <p:cNvSpPr/>
          <p:nvPr/>
        </p:nvSpPr>
        <p:spPr>
          <a:xfrm>
            <a:off x="457200" y="603504"/>
            <a:ext cx="8229600" cy="384048"/>
          </a:xfrm>
          <a:prstGeom prst="rect">
            <a:avLst/>
          </a:prstGeom>
          <a:noFill/>
          <a:ln/>
        </p:spPr>
        <p:txBody>
          <a:bodyPr wrap="square" lIns="0" tIns="0" rIns="0" bIns="0" rtlCol="0" anchor="ctr"/>
          <a:lstStyle/>
          <a:p>
            <a:pPr indent="0" marL="0">
              <a:buNone/>
            </a:pPr>
            <a:r>
              <a:rPr lang="en-US" sz="1700" b="1" dirty="0">
                <a:solidFill>
                  <a:srgbClr val="1F2933"/>
                </a:solidFill>
                <a:latin typeface="Yu Gothic" pitchFamily="34" charset="0"/>
                <a:ea typeface="Yu Gothic" pitchFamily="34" charset="-122"/>
                <a:cs typeface="Yu Gothic" pitchFamily="34" charset="-120"/>
              </a:rPr>
              <a:t>歩留まりを支える、破断面観察という記録業務</a:t>
            </a:r>
            <a:endParaRPr lang="en-US" sz="1700" dirty="0"/>
          </a:p>
        </p:txBody>
      </p:sp>
      <p:sp>
        <p:nvSpPr>
          <p:cNvPr id="7" name="Text 5"/>
          <p:cNvSpPr/>
          <p:nvPr/>
        </p:nvSpPr>
        <p:spPr>
          <a:xfrm>
            <a:off x="457200" y="1005840"/>
            <a:ext cx="8229600" cy="292608"/>
          </a:xfrm>
          <a:prstGeom prst="rect">
            <a:avLst/>
          </a:prstGeom>
          <a:noFill/>
          <a:ln/>
        </p:spPr>
        <p:txBody>
          <a:bodyPr wrap="square" lIns="0" tIns="0" rIns="0" bIns="0" rtlCol="0" anchor="ctr"/>
          <a:lstStyle/>
          <a:p>
            <a:pPr indent="0" marL="0">
              <a:buNone/>
            </a:pPr>
            <a:r>
              <a:rPr lang="en-US" sz="1050" dirty="0">
                <a:solidFill>
                  <a:srgbClr val="5C6770"/>
                </a:solidFill>
                <a:latin typeface="Yu Gothic" pitchFamily="34" charset="0"/>
                <a:ea typeface="Yu Gothic" pitchFamily="34" charset="-122"/>
                <a:cs typeface="Yu Gothic" pitchFamily="34" charset="-120"/>
              </a:rPr>
              <a:t>チップは薄く小さく、切り出しやピックアップ時の負荷によって、欠け・割れ・微細なダメージが問題になる場合があります。</a:t>
            </a:r>
            <a:endParaRPr lang="en-US" sz="1050" dirty="0"/>
          </a:p>
        </p:txBody>
      </p:sp>
      <p:sp>
        <p:nvSpPr>
          <p:cNvPr id="8" name="Shape 6"/>
          <p:cNvSpPr/>
          <p:nvPr/>
        </p:nvSpPr>
        <p:spPr>
          <a:xfrm>
            <a:off x="457200" y="1417320"/>
            <a:ext cx="1173480" cy="1207008"/>
          </a:xfrm>
          <a:prstGeom prst="roundRect">
            <a:avLst>
              <a:gd name="adj" fmla="val 4675"/>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9" name="Text 7"/>
          <p:cNvSpPr/>
          <p:nvPr/>
        </p:nvSpPr>
        <p:spPr>
          <a:xfrm>
            <a:off x="929640" y="1508760"/>
            <a:ext cx="228600" cy="228600"/>
          </a:xfrm>
          <a:prstGeom prst="ellipse">
            <a:avLst/>
          </a:prstGeom>
          <a:solidFill>
            <a:srgbClr val="2F5D8A"/>
          </a:solid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1</a:t>
            </a:r>
            <a:endParaRPr lang="en-US" sz="900" dirty="0"/>
          </a:p>
        </p:txBody>
      </p:sp>
      <p:sp>
        <p:nvSpPr>
          <p:cNvPr id="10" name="Text 8"/>
          <p:cNvSpPr/>
          <p:nvPr/>
        </p:nvSpPr>
        <p:spPr>
          <a:xfrm>
            <a:off x="512064" y="1792224"/>
            <a:ext cx="1063752" cy="274320"/>
          </a:xfrm>
          <a:prstGeom prst="rect">
            <a:avLst/>
          </a:prstGeom>
          <a:noFill/>
          <a:ln/>
        </p:spPr>
        <p:txBody>
          <a:bodyPr wrap="square" lIns="0" tIns="0" rIns="0" bIns="0" rtlCol="0" anchor="ctr"/>
          <a:lstStyle/>
          <a:p>
            <a:pPr algn="ctr" indent="0" marL="0">
              <a:buNone/>
            </a:pPr>
            <a:r>
              <a:rPr lang="en-US" sz="1000" b="1" dirty="0">
                <a:solidFill>
                  <a:srgbClr val="1F2933"/>
                </a:solidFill>
                <a:latin typeface="Yu Gothic" pitchFamily="34" charset="0"/>
                <a:ea typeface="Yu Gothic" pitchFamily="34" charset="-122"/>
                <a:cs typeface="Yu Gothic" pitchFamily="34" charset="-120"/>
              </a:rPr>
              <a:t>ウェハ</a:t>
            </a:r>
            <a:endParaRPr lang="en-US" sz="1000" dirty="0"/>
          </a:p>
        </p:txBody>
      </p:sp>
      <p:sp>
        <p:nvSpPr>
          <p:cNvPr id="11" name="Text 9"/>
          <p:cNvSpPr/>
          <p:nvPr/>
        </p:nvSpPr>
        <p:spPr>
          <a:xfrm>
            <a:off x="530352" y="2084832"/>
            <a:ext cx="1027176" cy="484632"/>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円板状の基板</a:t>
            </a:r>
            <a:endParaRPr lang="en-US" sz="750" dirty="0"/>
          </a:p>
        </p:txBody>
      </p:sp>
      <p:sp>
        <p:nvSpPr>
          <p:cNvPr id="12" name="Text 10"/>
          <p:cNvSpPr/>
          <p:nvPr/>
        </p:nvSpPr>
        <p:spPr>
          <a:xfrm>
            <a:off x="1630680" y="1883664"/>
            <a:ext cx="237744"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13" name="Shape 11"/>
          <p:cNvSpPr/>
          <p:nvPr/>
        </p:nvSpPr>
        <p:spPr>
          <a:xfrm>
            <a:off x="1868424" y="1417320"/>
            <a:ext cx="1173480" cy="1207008"/>
          </a:xfrm>
          <a:prstGeom prst="roundRect">
            <a:avLst>
              <a:gd name="adj" fmla="val 4675"/>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14" name="Text 12"/>
          <p:cNvSpPr/>
          <p:nvPr/>
        </p:nvSpPr>
        <p:spPr>
          <a:xfrm>
            <a:off x="2340864" y="1508760"/>
            <a:ext cx="228600" cy="228600"/>
          </a:xfrm>
          <a:prstGeom prst="ellipse">
            <a:avLst/>
          </a:prstGeom>
          <a:solidFill>
            <a:srgbClr val="2F5D8A"/>
          </a:solid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15" name="Text 13"/>
          <p:cNvSpPr/>
          <p:nvPr/>
        </p:nvSpPr>
        <p:spPr>
          <a:xfrm>
            <a:off x="1923288" y="1792224"/>
            <a:ext cx="1063752" cy="274320"/>
          </a:xfrm>
          <a:prstGeom prst="rect">
            <a:avLst/>
          </a:prstGeom>
          <a:noFill/>
          <a:ln/>
        </p:spPr>
        <p:txBody>
          <a:bodyPr wrap="square" lIns="0" tIns="0" rIns="0" bIns="0" rtlCol="0" anchor="ctr"/>
          <a:lstStyle/>
          <a:p>
            <a:pPr algn="ctr" indent="0" marL="0">
              <a:buNone/>
            </a:pPr>
            <a:r>
              <a:rPr lang="en-US" sz="1000" b="1" dirty="0">
                <a:solidFill>
                  <a:srgbClr val="1F2933"/>
                </a:solidFill>
                <a:latin typeface="Yu Gothic" pitchFamily="34" charset="0"/>
                <a:ea typeface="Yu Gothic" pitchFamily="34" charset="-122"/>
                <a:cs typeface="Yu Gothic" pitchFamily="34" charset="-120"/>
              </a:rPr>
              <a:t>チップ形成</a:t>
            </a:r>
            <a:endParaRPr lang="en-US" sz="1000" dirty="0"/>
          </a:p>
        </p:txBody>
      </p:sp>
      <p:sp>
        <p:nvSpPr>
          <p:cNvPr id="16" name="Text 14"/>
          <p:cNvSpPr/>
          <p:nvPr/>
        </p:nvSpPr>
        <p:spPr>
          <a:xfrm>
            <a:off x="1941576" y="2084832"/>
            <a:ext cx="1027176" cy="484632"/>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多数のチップを作る</a:t>
            </a:r>
            <a:endParaRPr lang="en-US" sz="750" dirty="0"/>
          </a:p>
        </p:txBody>
      </p:sp>
      <p:sp>
        <p:nvSpPr>
          <p:cNvPr id="17" name="Text 15"/>
          <p:cNvSpPr/>
          <p:nvPr/>
        </p:nvSpPr>
        <p:spPr>
          <a:xfrm>
            <a:off x="3041904" y="1883664"/>
            <a:ext cx="237744"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18" name="Shape 16"/>
          <p:cNvSpPr/>
          <p:nvPr/>
        </p:nvSpPr>
        <p:spPr>
          <a:xfrm>
            <a:off x="3279648" y="1417320"/>
            <a:ext cx="1173480" cy="1207008"/>
          </a:xfrm>
          <a:prstGeom prst="roundRect">
            <a:avLst>
              <a:gd name="adj" fmla="val 4675"/>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19" name="Text 17"/>
          <p:cNvSpPr/>
          <p:nvPr/>
        </p:nvSpPr>
        <p:spPr>
          <a:xfrm>
            <a:off x="3752088" y="1508760"/>
            <a:ext cx="228600" cy="228600"/>
          </a:xfrm>
          <a:prstGeom prst="ellipse">
            <a:avLst/>
          </a:prstGeom>
          <a:solidFill>
            <a:srgbClr val="2F5D8A"/>
          </a:solid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3</a:t>
            </a:r>
            <a:endParaRPr lang="en-US" sz="900" dirty="0"/>
          </a:p>
        </p:txBody>
      </p:sp>
      <p:sp>
        <p:nvSpPr>
          <p:cNvPr id="20" name="Text 18"/>
          <p:cNvSpPr/>
          <p:nvPr/>
        </p:nvSpPr>
        <p:spPr>
          <a:xfrm>
            <a:off x="3334512" y="1792224"/>
            <a:ext cx="1063752" cy="274320"/>
          </a:xfrm>
          <a:prstGeom prst="rect">
            <a:avLst/>
          </a:prstGeom>
          <a:noFill/>
          <a:ln/>
        </p:spPr>
        <p:txBody>
          <a:bodyPr wrap="square" lIns="0" tIns="0" rIns="0" bIns="0" rtlCol="0" anchor="ctr"/>
          <a:lstStyle/>
          <a:p>
            <a:pPr algn="ctr" indent="0" marL="0">
              <a:buNone/>
            </a:pPr>
            <a:r>
              <a:rPr lang="en-US" sz="1000" b="1" dirty="0">
                <a:solidFill>
                  <a:srgbClr val="1F2933"/>
                </a:solidFill>
                <a:latin typeface="Yu Gothic" pitchFamily="34" charset="0"/>
                <a:ea typeface="Yu Gothic" pitchFamily="34" charset="-122"/>
                <a:cs typeface="Yu Gothic" pitchFamily="34" charset="-120"/>
              </a:rPr>
              <a:t>切り出し</a:t>
            </a:r>
            <a:endParaRPr lang="en-US" sz="1000" dirty="0"/>
          </a:p>
        </p:txBody>
      </p:sp>
      <p:sp>
        <p:nvSpPr>
          <p:cNvPr id="21" name="Text 19"/>
          <p:cNvSpPr/>
          <p:nvPr/>
        </p:nvSpPr>
        <p:spPr>
          <a:xfrm>
            <a:off x="3352800" y="2084832"/>
            <a:ext cx="1027176" cy="484632"/>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1つずつ個片化する</a:t>
            </a:r>
            <a:endParaRPr lang="en-US" sz="750" dirty="0"/>
          </a:p>
        </p:txBody>
      </p:sp>
      <p:sp>
        <p:nvSpPr>
          <p:cNvPr id="22" name="Text 20"/>
          <p:cNvSpPr/>
          <p:nvPr/>
        </p:nvSpPr>
        <p:spPr>
          <a:xfrm>
            <a:off x="4453128" y="1883664"/>
            <a:ext cx="237744"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23" name="Shape 21"/>
          <p:cNvSpPr/>
          <p:nvPr/>
        </p:nvSpPr>
        <p:spPr>
          <a:xfrm>
            <a:off x="4690872" y="1417320"/>
            <a:ext cx="1173480" cy="1207008"/>
          </a:xfrm>
          <a:prstGeom prst="roundRect">
            <a:avLst>
              <a:gd name="adj" fmla="val 4675"/>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24" name="Text 22"/>
          <p:cNvSpPr/>
          <p:nvPr/>
        </p:nvSpPr>
        <p:spPr>
          <a:xfrm>
            <a:off x="5163312" y="1508760"/>
            <a:ext cx="228600" cy="228600"/>
          </a:xfrm>
          <a:prstGeom prst="ellipse">
            <a:avLst/>
          </a:prstGeom>
          <a:solidFill>
            <a:srgbClr val="2F5D8A"/>
          </a:solid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4</a:t>
            </a:r>
            <a:endParaRPr lang="en-US" sz="900" dirty="0"/>
          </a:p>
        </p:txBody>
      </p:sp>
      <p:sp>
        <p:nvSpPr>
          <p:cNvPr id="25" name="Text 23"/>
          <p:cNvSpPr/>
          <p:nvPr/>
        </p:nvSpPr>
        <p:spPr>
          <a:xfrm>
            <a:off x="4745736" y="1792224"/>
            <a:ext cx="1063752" cy="274320"/>
          </a:xfrm>
          <a:prstGeom prst="rect">
            <a:avLst/>
          </a:prstGeom>
          <a:noFill/>
          <a:ln/>
        </p:spPr>
        <p:txBody>
          <a:bodyPr wrap="square" lIns="0" tIns="0" rIns="0" bIns="0" rtlCol="0" anchor="ctr"/>
          <a:lstStyle/>
          <a:p>
            <a:pPr algn="ctr" indent="0" marL="0">
              <a:buNone/>
            </a:pPr>
            <a:r>
              <a:rPr lang="en-US" sz="1000" b="1" dirty="0">
                <a:solidFill>
                  <a:srgbClr val="1F2933"/>
                </a:solidFill>
                <a:latin typeface="Yu Gothic" pitchFamily="34" charset="0"/>
                <a:ea typeface="Yu Gothic" pitchFamily="34" charset="-122"/>
                <a:cs typeface="Yu Gothic" pitchFamily="34" charset="-120"/>
              </a:rPr>
              <a:t>ピックアップ</a:t>
            </a:r>
            <a:endParaRPr lang="en-US" sz="1000" dirty="0"/>
          </a:p>
        </p:txBody>
      </p:sp>
      <p:sp>
        <p:nvSpPr>
          <p:cNvPr id="26" name="Text 24"/>
          <p:cNvSpPr/>
          <p:nvPr/>
        </p:nvSpPr>
        <p:spPr>
          <a:xfrm>
            <a:off x="4764024" y="2084832"/>
            <a:ext cx="1027176" cy="484632"/>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薄いチップを扱う</a:t>
            </a:r>
            <a:endParaRPr lang="en-US" sz="750" dirty="0"/>
          </a:p>
        </p:txBody>
      </p:sp>
      <p:sp>
        <p:nvSpPr>
          <p:cNvPr id="27" name="Text 25"/>
          <p:cNvSpPr/>
          <p:nvPr/>
        </p:nvSpPr>
        <p:spPr>
          <a:xfrm>
            <a:off x="5864352" y="1883664"/>
            <a:ext cx="237744"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28" name="Shape 26"/>
          <p:cNvSpPr/>
          <p:nvPr/>
        </p:nvSpPr>
        <p:spPr>
          <a:xfrm>
            <a:off x="6102096" y="1417320"/>
            <a:ext cx="1173480" cy="1207008"/>
          </a:xfrm>
          <a:prstGeom prst="roundRect">
            <a:avLst>
              <a:gd name="adj" fmla="val 4675"/>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29" name="Text 27"/>
          <p:cNvSpPr/>
          <p:nvPr/>
        </p:nvSpPr>
        <p:spPr>
          <a:xfrm>
            <a:off x="6574536" y="1508760"/>
            <a:ext cx="228600" cy="228600"/>
          </a:xfrm>
          <a:prstGeom prst="ellipse">
            <a:avLst/>
          </a:prstGeom>
          <a:solidFill>
            <a:srgbClr val="2F5D8A"/>
          </a:solid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5</a:t>
            </a:r>
            <a:endParaRPr lang="en-US" sz="900" dirty="0"/>
          </a:p>
        </p:txBody>
      </p:sp>
      <p:sp>
        <p:nvSpPr>
          <p:cNvPr id="30" name="Text 28"/>
          <p:cNvSpPr/>
          <p:nvPr/>
        </p:nvSpPr>
        <p:spPr>
          <a:xfrm>
            <a:off x="6156960" y="1792224"/>
            <a:ext cx="1063752" cy="274320"/>
          </a:xfrm>
          <a:prstGeom prst="rect">
            <a:avLst/>
          </a:prstGeom>
          <a:noFill/>
          <a:ln/>
        </p:spPr>
        <p:txBody>
          <a:bodyPr wrap="square" lIns="0" tIns="0" rIns="0" bIns="0" rtlCol="0" anchor="ctr"/>
          <a:lstStyle/>
          <a:p>
            <a:pPr algn="ctr" indent="0" marL="0">
              <a:buNone/>
            </a:pPr>
            <a:r>
              <a:rPr lang="en-US" sz="1000" b="1" dirty="0">
                <a:solidFill>
                  <a:srgbClr val="1F2933"/>
                </a:solidFill>
                <a:latin typeface="Yu Gothic" pitchFamily="34" charset="0"/>
                <a:ea typeface="Yu Gothic" pitchFamily="34" charset="-122"/>
                <a:cs typeface="Yu Gothic" pitchFamily="34" charset="-120"/>
              </a:rPr>
              <a:t>破断面観察</a:t>
            </a:r>
            <a:endParaRPr lang="en-US" sz="1000" dirty="0"/>
          </a:p>
        </p:txBody>
      </p:sp>
      <p:sp>
        <p:nvSpPr>
          <p:cNvPr id="31" name="Text 29"/>
          <p:cNvSpPr/>
          <p:nvPr/>
        </p:nvSpPr>
        <p:spPr>
          <a:xfrm>
            <a:off x="6175248" y="2084832"/>
            <a:ext cx="1027176" cy="484632"/>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破断状態を確認する</a:t>
            </a:r>
            <a:endParaRPr lang="en-US" sz="750" dirty="0"/>
          </a:p>
        </p:txBody>
      </p:sp>
      <p:sp>
        <p:nvSpPr>
          <p:cNvPr id="32" name="Text 30"/>
          <p:cNvSpPr/>
          <p:nvPr/>
        </p:nvSpPr>
        <p:spPr>
          <a:xfrm>
            <a:off x="7275576" y="1883664"/>
            <a:ext cx="237744"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33" name="Shape 31"/>
          <p:cNvSpPr/>
          <p:nvPr/>
        </p:nvSpPr>
        <p:spPr>
          <a:xfrm>
            <a:off x="7513320" y="1417320"/>
            <a:ext cx="1173480" cy="1207008"/>
          </a:xfrm>
          <a:prstGeom prst="roundRect">
            <a:avLst>
              <a:gd name="adj" fmla="val 4675"/>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34" name="Text 32"/>
          <p:cNvSpPr/>
          <p:nvPr/>
        </p:nvSpPr>
        <p:spPr>
          <a:xfrm>
            <a:off x="7985760" y="1508760"/>
            <a:ext cx="228600" cy="228600"/>
          </a:xfrm>
          <a:prstGeom prst="ellipse">
            <a:avLst/>
          </a:prstGeom>
          <a:solidFill>
            <a:srgbClr val="2F5D8A"/>
          </a:solid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6</a:t>
            </a:r>
            <a:endParaRPr lang="en-US" sz="900" dirty="0"/>
          </a:p>
        </p:txBody>
      </p:sp>
      <p:sp>
        <p:nvSpPr>
          <p:cNvPr id="35" name="Text 33"/>
          <p:cNvSpPr/>
          <p:nvPr/>
        </p:nvSpPr>
        <p:spPr>
          <a:xfrm>
            <a:off x="7568184" y="1792224"/>
            <a:ext cx="1063752" cy="274320"/>
          </a:xfrm>
          <a:prstGeom prst="rect">
            <a:avLst/>
          </a:prstGeom>
          <a:noFill/>
          <a:ln/>
        </p:spPr>
        <p:txBody>
          <a:bodyPr wrap="square" lIns="0" tIns="0" rIns="0" bIns="0" rtlCol="0" anchor="ctr"/>
          <a:lstStyle/>
          <a:p>
            <a:pPr algn="ctr" indent="0" marL="0">
              <a:buNone/>
            </a:pPr>
            <a:r>
              <a:rPr lang="en-US" sz="1000" b="1" dirty="0">
                <a:solidFill>
                  <a:srgbClr val="1F2933"/>
                </a:solidFill>
                <a:latin typeface="Yu Gothic" pitchFamily="34" charset="0"/>
                <a:ea typeface="Yu Gothic" pitchFamily="34" charset="-122"/>
                <a:cs typeface="Yu Gothic" pitchFamily="34" charset="-120"/>
              </a:rPr>
              <a:t>記録</a:t>
            </a:r>
            <a:endParaRPr lang="en-US" sz="1000" dirty="0"/>
          </a:p>
        </p:txBody>
      </p:sp>
      <p:sp>
        <p:nvSpPr>
          <p:cNvPr id="36" name="Text 34"/>
          <p:cNvSpPr/>
          <p:nvPr/>
        </p:nvSpPr>
        <p:spPr>
          <a:xfrm>
            <a:off x="7586472" y="2084832"/>
            <a:ext cx="1027176" cy="484632"/>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位置・条件と紐づける</a:t>
            </a:r>
            <a:endParaRPr lang="en-US" sz="750" dirty="0"/>
          </a:p>
        </p:txBody>
      </p:sp>
      <p:sp>
        <p:nvSpPr>
          <p:cNvPr id="37" name="Shape 35"/>
          <p:cNvSpPr/>
          <p:nvPr/>
        </p:nvSpPr>
        <p:spPr>
          <a:xfrm>
            <a:off x="457200" y="3017520"/>
            <a:ext cx="2651760" cy="1143000"/>
          </a:xfrm>
          <a:prstGeom prst="roundRect">
            <a:avLst>
              <a:gd name="adj" fmla="val 56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38" name="Text 36"/>
          <p:cNvSpPr/>
          <p:nvPr/>
        </p:nvSpPr>
        <p:spPr>
          <a:xfrm>
            <a:off x="621792" y="3136392"/>
            <a:ext cx="2322576"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割れやすさに差が出る</a:t>
            </a:r>
            <a:endParaRPr lang="en-US" sz="1050" dirty="0"/>
          </a:p>
        </p:txBody>
      </p:sp>
      <p:sp>
        <p:nvSpPr>
          <p:cNvPr id="39" name="Text 37"/>
          <p:cNvSpPr/>
          <p:nvPr/>
        </p:nvSpPr>
        <p:spPr>
          <a:xfrm>
            <a:off x="621792" y="3419856"/>
            <a:ext cx="2322576" cy="63093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ウェハ上の位置や製造条件によって、チップの割れやすさに差が出ることがあります。</a:t>
            </a:r>
            <a:endParaRPr lang="en-US" sz="850" dirty="0"/>
          </a:p>
        </p:txBody>
      </p:sp>
      <p:sp>
        <p:nvSpPr>
          <p:cNvPr id="40" name="Shape 38"/>
          <p:cNvSpPr/>
          <p:nvPr/>
        </p:nvSpPr>
        <p:spPr>
          <a:xfrm>
            <a:off x="3246120" y="3017520"/>
            <a:ext cx="2651760" cy="1143000"/>
          </a:xfrm>
          <a:prstGeom prst="roundRect">
            <a:avLst>
              <a:gd name="adj" fmla="val 56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41" name="Text 39"/>
          <p:cNvSpPr/>
          <p:nvPr/>
        </p:nvSpPr>
        <p:spPr>
          <a:xfrm>
            <a:off x="3410712" y="3136392"/>
            <a:ext cx="2322576"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記録する理由</a:t>
            </a:r>
            <a:endParaRPr lang="en-US" sz="1050" dirty="0"/>
          </a:p>
        </p:txBody>
      </p:sp>
      <p:sp>
        <p:nvSpPr>
          <p:cNvPr id="42" name="Text 40"/>
          <p:cNvSpPr/>
          <p:nvPr/>
        </p:nvSpPr>
        <p:spPr>
          <a:xfrm>
            <a:off x="3410712" y="3419856"/>
            <a:ext cx="2322576" cy="63093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破断状態を記録し、位置・条件・破断面の関係を確認。割れにくい条件を探る手がかりにします。</a:t>
            </a:r>
            <a:endParaRPr lang="en-US" sz="850" dirty="0"/>
          </a:p>
        </p:txBody>
      </p:sp>
      <p:sp>
        <p:nvSpPr>
          <p:cNvPr id="43" name="Shape 41"/>
          <p:cNvSpPr/>
          <p:nvPr/>
        </p:nvSpPr>
        <p:spPr>
          <a:xfrm>
            <a:off x="6035040" y="3017520"/>
            <a:ext cx="2651760" cy="1143000"/>
          </a:xfrm>
          <a:prstGeom prst="roundRect">
            <a:avLst>
              <a:gd name="adj" fmla="val 56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44" name="Text 42"/>
          <p:cNvSpPr/>
          <p:nvPr/>
        </p:nvSpPr>
        <p:spPr>
          <a:xfrm>
            <a:off x="6199632" y="3136392"/>
            <a:ext cx="2322576"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用語メモ｜歩留まり</a:t>
            </a:r>
            <a:endParaRPr lang="en-US" sz="1050" dirty="0"/>
          </a:p>
        </p:txBody>
      </p:sp>
      <p:sp>
        <p:nvSpPr>
          <p:cNvPr id="45" name="Text 43"/>
          <p:cNvSpPr/>
          <p:nvPr/>
        </p:nvSpPr>
        <p:spPr>
          <a:xfrm>
            <a:off x="6199632" y="3419856"/>
            <a:ext cx="2322576" cy="63093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良品として次工程や出荷へ進められる割合。半導体製造では、これを高めることが重要です。</a:t>
            </a:r>
            <a:endParaRPr lang="en-US" sz="850" dirty="0"/>
          </a:p>
        </p:txBody>
      </p:sp>
      <p:sp>
        <p:nvSpPr>
          <p:cNvPr id="46" name="Text 44"/>
          <p:cNvSpPr/>
          <p:nvPr/>
        </p:nvSpPr>
        <p:spPr>
          <a:xfrm>
            <a:off x="457200" y="4818888"/>
            <a:ext cx="6949440" cy="219456"/>
          </a:xfrm>
          <a:prstGeom prst="rect">
            <a:avLst/>
          </a:prstGeom>
          <a:noFill/>
          <a:ln/>
        </p:spPr>
        <p:txBody>
          <a:bodyPr wrap="square" lIns="0" tIns="0" rIns="0" bIns="0" rtlCol="0" anchor="ctr"/>
          <a:lstStyle/>
          <a:p>
            <a:pPr indent="0" marL="0">
              <a:buNone/>
            </a:pPr>
            <a:r>
              <a:rPr lang="en-US" sz="750" dirty="0">
                <a:solidFill>
                  <a:srgbClr val="8A949E"/>
                </a:solidFill>
                <a:latin typeface="Yu Gothic" pitchFamily="34" charset="0"/>
                <a:ea typeface="Yu Gothic" pitchFamily="34" charset="-122"/>
                <a:cs typeface="Yu Gothic" pitchFamily="34" charset="-120"/>
              </a:rPr>
              <a:t>検査記録作業のExcel自動化｜業務改善ケーススタディ</a:t>
            </a:r>
            <a:endParaRPr lang="en-US" sz="750" dirty="0"/>
          </a:p>
        </p:txBody>
      </p:sp>
      <p:sp>
        <p:nvSpPr>
          <p:cNvPr id="47" name="Text 45"/>
          <p:cNvSpPr/>
          <p:nvPr/>
        </p:nvSpPr>
        <p:spPr>
          <a:xfrm>
            <a:off x="7680960" y="4818888"/>
            <a:ext cx="1005840" cy="219456"/>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02 / 07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2F5D8A"/>
          </a:solidFill>
          <a:ln/>
        </p:spPr>
      </p:sp>
      <p:sp>
        <p:nvSpPr>
          <p:cNvPr id="3" name="Shape 1"/>
          <p:cNvSpPr/>
          <p:nvPr/>
        </p:nvSpPr>
        <p:spPr>
          <a:xfrm>
            <a:off x="457200" y="393192"/>
            <a:ext cx="182880" cy="21946"/>
          </a:xfrm>
          <a:prstGeom prst="rect">
            <a:avLst/>
          </a:prstGeom>
          <a:solidFill>
            <a:srgbClr val="2F5D8A"/>
          </a:solidFill>
          <a:ln/>
        </p:spPr>
      </p:sp>
      <p:sp>
        <p:nvSpPr>
          <p:cNvPr id="4" name="Text 2"/>
          <p:cNvSpPr/>
          <p:nvPr/>
        </p:nvSpPr>
        <p:spPr>
          <a:xfrm>
            <a:off x="694944" y="274320"/>
            <a:ext cx="5029200" cy="256032"/>
          </a:xfrm>
          <a:prstGeom prst="rect">
            <a:avLst/>
          </a:prstGeom>
          <a:noFill/>
          <a:ln/>
        </p:spPr>
        <p:txBody>
          <a:bodyPr wrap="square" lIns="0" tIns="0" rIns="0" bIns="0" rtlCol="0" anchor="ctr"/>
          <a:lstStyle/>
          <a:p>
            <a:pPr indent="0" marL="0">
              <a:buNone/>
            </a:pPr>
            <a:r>
              <a:rPr lang="en-US" sz="1050" b="1" spc="100" kern="0" dirty="0">
                <a:solidFill>
                  <a:srgbClr val="2F5D8A"/>
                </a:solidFill>
                <a:latin typeface="Yu Gothic" pitchFamily="34" charset="0"/>
                <a:ea typeface="Yu Gothic" pitchFamily="34" charset="-122"/>
                <a:cs typeface="Yu Gothic" pitchFamily="34" charset="-120"/>
              </a:rPr>
              <a:t>03｜改善前の課題</a:t>
            </a:r>
            <a:endParaRPr lang="en-US" sz="1050" dirty="0"/>
          </a:p>
        </p:txBody>
      </p:sp>
      <p:sp>
        <p:nvSpPr>
          <p:cNvPr id="5" name="Text 3"/>
          <p:cNvSpPr/>
          <p:nvPr/>
        </p:nvSpPr>
        <p:spPr>
          <a:xfrm>
            <a:off x="5486400" y="274320"/>
            <a:ext cx="3200400" cy="256032"/>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検査記録作業のExcel自動化</a:t>
            </a:r>
            <a:endParaRPr lang="en-US" sz="800" dirty="0"/>
          </a:p>
        </p:txBody>
      </p:sp>
      <p:sp>
        <p:nvSpPr>
          <p:cNvPr id="6" name="Text 4"/>
          <p:cNvSpPr/>
          <p:nvPr/>
        </p:nvSpPr>
        <p:spPr>
          <a:xfrm>
            <a:off x="457200" y="603504"/>
            <a:ext cx="8229600" cy="384048"/>
          </a:xfrm>
          <a:prstGeom prst="rect">
            <a:avLst/>
          </a:prstGeom>
          <a:noFill/>
          <a:ln/>
        </p:spPr>
        <p:txBody>
          <a:bodyPr wrap="square" lIns="0" tIns="0" rIns="0" bIns="0" rtlCol="0" anchor="ctr"/>
          <a:lstStyle/>
          <a:p>
            <a:pPr indent="0" marL="0">
              <a:buNone/>
            </a:pPr>
            <a:r>
              <a:rPr lang="en-US" sz="1700" b="1" dirty="0">
                <a:solidFill>
                  <a:srgbClr val="1F2933"/>
                </a:solidFill>
                <a:latin typeface="Yu Gothic" pitchFamily="34" charset="0"/>
                <a:ea typeface="Yu Gothic" pitchFamily="34" charset="-122"/>
                <a:cs typeface="Yu Gothic" pitchFamily="34" charset="-120"/>
              </a:rPr>
              <a:t>集中力に頼る手順が、標準作業になっていた</a:t>
            </a:r>
            <a:endParaRPr lang="en-US" sz="1700" dirty="0"/>
          </a:p>
        </p:txBody>
      </p:sp>
      <p:sp>
        <p:nvSpPr>
          <p:cNvPr id="7" name="Text 5"/>
          <p:cNvSpPr/>
          <p:nvPr/>
        </p:nvSpPr>
        <p:spPr>
          <a:xfrm>
            <a:off x="457200" y="1005840"/>
            <a:ext cx="8229600" cy="292608"/>
          </a:xfrm>
          <a:prstGeom prst="rect">
            <a:avLst/>
          </a:prstGeom>
          <a:noFill/>
          <a:ln/>
        </p:spPr>
        <p:txBody>
          <a:bodyPr wrap="square" lIns="0" tIns="0" rIns="0" bIns="0" rtlCol="0" anchor="ctr"/>
          <a:lstStyle/>
          <a:p>
            <a:pPr indent="0" marL="0">
              <a:buNone/>
            </a:pPr>
            <a:r>
              <a:rPr lang="en-US" sz="1050" dirty="0">
                <a:solidFill>
                  <a:srgbClr val="5C6770"/>
                </a:solidFill>
                <a:latin typeface="Yu Gothic" pitchFamily="34" charset="0"/>
                <a:ea typeface="Yu Gothic" pitchFamily="34" charset="-122"/>
                <a:cs typeface="Yu Gothic" pitchFamily="34" charset="-120"/>
              </a:rPr>
              <a:t>単純な入力作業に見えて、実際には認知負荷の高い作業でした。</a:t>
            </a:r>
            <a:endParaRPr lang="en-US" sz="1050" dirty="0"/>
          </a:p>
        </p:txBody>
      </p:sp>
      <p:sp>
        <p:nvSpPr>
          <p:cNvPr id="8" name="Shape 6"/>
          <p:cNvSpPr/>
          <p:nvPr/>
        </p:nvSpPr>
        <p:spPr>
          <a:xfrm>
            <a:off x="1325880" y="1417320"/>
            <a:ext cx="1737360" cy="914400"/>
          </a:xfrm>
          <a:prstGeom prst="roundRect">
            <a:avLst>
              <a:gd name="adj" fmla="val 5000"/>
            </a:avLst>
          </a:prstGeom>
          <a:solidFill>
            <a:srgbClr val="FFFFFF"/>
          </a:solidFill>
          <a:ln w="22225">
            <a:solidFill>
              <a:srgbClr val="2F5D8A"/>
            </a:solidFill>
            <a:prstDash val="solid"/>
          </a:ln>
          <a:effectLst>
            <a:outerShdw sx="100000" sy="100000" kx="0" ky="0" algn="bl" rotWithShape="0" blurRad="88900" dist="25400" dir="8100000">
              <a:srgbClr val="1F2933">
                <a:alpha val="10000"/>
              </a:srgbClr>
            </a:outerShdw>
          </a:effectLst>
        </p:spPr>
      </p:sp>
      <p:sp>
        <p:nvSpPr>
          <p:cNvPr id="9" name="Shape 7"/>
          <p:cNvSpPr/>
          <p:nvPr/>
        </p:nvSpPr>
        <p:spPr>
          <a:xfrm>
            <a:off x="1444752" y="1527048"/>
            <a:ext cx="1499616" cy="365760"/>
          </a:xfrm>
          <a:prstGeom prst="roundRect">
            <a:avLst>
              <a:gd name="adj" fmla="val 7500"/>
            </a:avLst>
          </a:prstGeom>
          <a:solidFill>
            <a:srgbClr val="EEF3F8"/>
          </a:solidFill>
          <a:ln w="9525">
            <a:solidFill>
              <a:srgbClr val="D3E0EC"/>
            </a:solidFill>
            <a:prstDash val="solid"/>
          </a:ln>
        </p:spPr>
      </p:sp>
      <p:sp>
        <p:nvSpPr>
          <p:cNvPr id="10" name="Shape 8"/>
          <p:cNvSpPr/>
          <p:nvPr/>
        </p:nvSpPr>
        <p:spPr>
          <a:xfrm>
            <a:off x="1444752" y="1984248"/>
            <a:ext cx="1124712" cy="54864"/>
          </a:xfrm>
          <a:prstGeom prst="rect">
            <a:avLst/>
          </a:prstGeom>
          <a:solidFill>
            <a:srgbClr val="E3E7EC"/>
          </a:solidFill>
          <a:ln/>
        </p:spPr>
      </p:sp>
      <p:sp>
        <p:nvSpPr>
          <p:cNvPr id="11" name="Shape 9"/>
          <p:cNvSpPr/>
          <p:nvPr/>
        </p:nvSpPr>
        <p:spPr>
          <a:xfrm>
            <a:off x="1444752" y="2112264"/>
            <a:ext cx="749808" cy="54864"/>
          </a:xfrm>
          <a:prstGeom prst="rect">
            <a:avLst/>
          </a:prstGeom>
          <a:solidFill>
            <a:srgbClr val="E3E7EC"/>
          </a:solidFill>
          <a:ln/>
        </p:spPr>
      </p:sp>
      <p:sp>
        <p:nvSpPr>
          <p:cNvPr id="12" name="Shape 10"/>
          <p:cNvSpPr/>
          <p:nvPr/>
        </p:nvSpPr>
        <p:spPr>
          <a:xfrm>
            <a:off x="2112264" y="2331720"/>
            <a:ext cx="164592" cy="64008"/>
          </a:xfrm>
          <a:prstGeom prst="rect">
            <a:avLst/>
          </a:prstGeom>
          <a:solidFill>
            <a:srgbClr val="C8D6E2"/>
          </a:solidFill>
          <a:ln/>
        </p:spPr>
      </p:sp>
      <p:sp>
        <p:nvSpPr>
          <p:cNvPr id="13" name="Shape 11"/>
          <p:cNvSpPr/>
          <p:nvPr/>
        </p:nvSpPr>
        <p:spPr>
          <a:xfrm>
            <a:off x="1920240" y="2395728"/>
            <a:ext cx="548640" cy="54864"/>
          </a:xfrm>
          <a:prstGeom prst="rect">
            <a:avLst/>
          </a:prstGeom>
          <a:solidFill>
            <a:srgbClr val="2F5D8A"/>
          </a:solidFill>
          <a:ln/>
        </p:spPr>
      </p:sp>
      <p:sp>
        <p:nvSpPr>
          <p:cNvPr id="14" name="Text 12"/>
          <p:cNvSpPr/>
          <p:nvPr/>
        </p:nvSpPr>
        <p:spPr>
          <a:xfrm>
            <a:off x="1051560" y="2496312"/>
            <a:ext cx="2286000"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Yu Gothic" pitchFamily="34" charset="0"/>
                <a:ea typeface="Yu Gothic" pitchFamily="34" charset="-122"/>
                <a:cs typeface="Yu Gothic" pitchFamily="34" charset="-120"/>
              </a:rPr>
              <a:t>測定器PC</a:t>
            </a:r>
            <a:endParaRPr lang="en-US" sz="1000" dirty="0"/>
          </a:p>
        </p:txBody>
      </p:sp>
      <p:sp>
        <p:nvSpPr>
          <p:cNvPr id="15" name="Text 13"/>
          <p:cNvSpPr/>
          <p:nvPr/>
        </p:nvSpPr>
        <p:spPr>
          <a:xfrm>
            <a:off x="914400" y="2715768"/>
            <a:ext cx="2560320" cy="411480"/>
          </a:xfrm>
          <a:prstGeom prst="rect">
            <a:avLst/>
          </a:prstGeom>
          <a:noFill/>
          <a:ln/>
        </p:spPr>
        <p:txBody>
          <a:bodyPr wrap="square" lIns="0" tIns="0" rIns="0" bIns="0" rtlCol="0" anchor="t"/>
          <a:lstStyle/>
          <a:p>
            <a:pPr algn="ctr" indent="0" marL="0">
              <a:lnSpc>
                <a:spcPct val="120000"/>
              </a:lnSpc>
              <a:buNone/>
            </a:pPr>
            <a:r>
              <a:rPr lang="en-US" sz="800" dirty="0">
                <a:solidFill>
                  <a:srgbClr val="5C6770"/>
                </a:solidFill>
                <a:latin typeface="Yu Gothic" pitchFamily="34" charset="0"/>
                <a:ea typeface="Yu Gothic" pitchFamily="34" charset="-122"/>
                <a:cs typeface="Yu Gothic" pitchFamily="34" charset="-120"/>
              </a:rPr>
              <a:t>画像と測定値を1件ずつ確認</a:t>
            </a:r>
            <a:endParaRPr lang="en-US" sz="800" dirty="0"/>
          </a:p>
        </p:txBody>
      </p:sp>
      <p:sp>
        <p:nvSpPr>
          <p:cNvPr id="16" name="Shape 14"/>
          <p:cNvSpPr/>
          <p:nvPr/>
        </p:nvSpPr>
        <p:spPr>
          <a:xfrm>
            <a:off x="6080760" y="1417320"/>
            <a:ext cx="1737360" cy="914400"/>
          </a:xfrm>
          <a:prstGeom prst="roundRect">
            <a:avLst>
              <a:gd name="adj" fmla="val 5000"/>
            </a:avLst>
          </a:prstGeom>
          <a:solidFill>
            <a:srgbClr val="FFFFFF"/>
          </a:solidFill>
          <a:ln w="22225">
            <a:solidFill>
              <a:srgbClr val="2F5D8A"/>
            </a:solidFill>
            <a:prstDash val="solid"/>
          </a:ln>
          <a:effectLst>
            <a:outerShdw sx="100000" sy="100000" kx="0" ky="0" algn="bl" rotWithShape="0" blurRad="88900" dist="25400" dir="8100000">
              <a:srgbClr val="1F2933">
                <a:alpha val="10000"/>
              </a:srgbClr>
            </a:outerShdw>
          </a:effectLst>
        </p:spPr>
      </p:sp>
      <p:sp>
        <p:nvSpPr>
          <p:cNvPr id="17" name="Shape 15"/>
          <p:cNvSpPr/>
          <p:nvPr/>
        </p:nvSpPr>
        <p:spPr>
          <a:xfrm>
            <a:off x="6199632" y="1536192"/>
            <a:ext cx="350901" cy="68580"/>
          </a:xfrm>
          <a:prstGeom prst="rect">
            <a:avLst/>
          </a:prstGeom>
          <a:solidFill>
            <a:srgbClr val="E9EEF3"/>
          </a:solidFill>
          <a:ln/>
        </p:spPr>
      </p:sp>
      <p:sp>
        <p:nvSpPr>
          <p:cNvPr id="18" name="Shape 16"/>
          <p:cNvSpPr/>
          <p:nvPr/>
        </p:nvSpPr>
        <p:spPr>
          <a:xfrm>
            <a:off x="6582537" y="1536192"/>
            <a:ext cx="350901" cy="68580"/>
          </a:xfrm>
          <a:prstGeom prst="rect">
            <a:avLst/>
          </a:prstGeom>
          <a:solidFill>
            <a:srgbClr val="E9EEF3"/>
          </a:solidFill>
          <a:ln/>
        </p:spPr>
      </p:sp>
      <p:sp>
        <p:nvSpPr>
          <p:cNvPr id="19" name="Shape 17"/>
          <p:cNvSpPr/>
          <p:nvPr/>
        </p:nvSpPr>
        <p:spPr>
          <a:xfrm>
            <a:off x="6965442" y="1536192"/>
            <a:ext cx="350901" cy="68580"/>
          </a:xfrm>
          <a:prstGeom prst="rect">
            <a:avLst/>
          </a:prstGeom>
          <a:solidFill>
            <a:srgbClr val="E9EEF3"/>
          </a:solidFill>
          <a:ln/>
        </p:spPr>
      </p:sp>
      <p:sp>
        <p:nvSpPr>
          <p:cNvPr id="20" name="Shape 18"/>
          <p:cNvSpPr/>
          <p:nvPr/>
        </p:nvSpPr>
        <p:spPr>
          <a:xfrm>
            <a:off x="7348347" y="1536192"/>
            <a:ext cx="350901" cy="68580"/>
          </a:xfrm>
          <a:prstGeom prst="rect">
            <a:avLst/>
          </a:prstGeom>
          <a:solidFill>
            <a:srgbClr val="E9EEF3"/>
          </a:solidFill>
          <a:ln/>
        </p:spPr>
      </p:sp>
      <p:sp>
        <p:nvSpPr>
          <p:cNvPr id="21" name="Shape 19"/>
          <p:cNvSpPr/>
          <p:nvPr/>
        </p:nvSpPr>
        <p:spPr>
          <a:xfrm>
            <a:off x="6199632" y="1645920"/>
            <a:ext cx="350901" cy="68580"/>
          </a:xfrm>
          <a:prstGeom prst="rect">
            <a:avLst/>
          </a:prstGeom>
          <a:solidFill>
            <a:srgbClr val="E9EEF3"/>
          </a:solidFill>
          <a:ln/>
        </p:spPr>
      </p:sp>
      <p:sp>
        <p:nvSpPr>
          <p:cNvPr id="22" name="Shape 20"/>
          <p:cNvSpPr/>
          <p:nvPr/>
        </p:nvSpPr>
        <p:spPr>
          <a:xfrm>
            <a:off x="6582537" y="1645920"/>
            <a:ext cx="350901" cy="68580"/>
          </a:xfrm>
          <a:prstGeom prst="rect">
            <a:avLst/>
          </a:prstGeom>
          <a:solidFill>
            <a:srgbClr val="E9EEF3"/>
          </a:solidFill>
          <a:ln/>
        </p:spPr>
      </p:sp>
      <p:sp>
        <p:nvSpPr>
          <p:cNvPr id="23" name="Shape 21"/>
          <p:cNvSpPr/>
          <p:nvPr/>
        </p:nvSpPr>
        <p:spPr>
          <a:xfrm>
            <a:off x="6965442" y="1645920"/>
            <a:ext cx="350901" cy="68580"/>
          </a:xfrm>
          <a:prstGeom prst="rect">
            <a:avLst/>
          </a:prstGeom>
          <a:solidFill>
            <a:srgbClr val="E9EEF3"/>
          </a:solidFill>
          <a:ln/>
        </p:spPr>
      </p:sp>
      <p:sp>
        <p:nvSpPr>
          <p:cNvPr id="24" name="Shape 22"/>
          <p:cNvSpPr/>
          <p:nvPr/>
        </p:nvSpPr>
        <p:spPr>
          <a:xfrm>
            <a:off x="7348347" y="1645920"/>
            <a:ext cx="350901" cy="68580"/>
          </a:xfrm>
          <a:prstGeom prst="rect">
            <a:avLst/>
          </a:prstGeom>
          <a:solidFill>
            <a:srgbClr val="E9EEF3"/>
          </a:solidFill>
          <a:ln/>
        </p:spPr>
      </p:sp>
      <p:sp>
        <p:nvSpPr>
          <p:cNvPr id="25" name="Shape 23"/>
          <p:cNvSpPr/>
          <p:nvPr/>
        </p:nvSpPr>
        <p:spPr>
          <a:xfrm>
            <a:off x="6199632" y="1755648"/>
            <a:ext cx="350901" cy="68580"/>
          </a:xfrm>
          <a:prstGeom prst="rect">
            <a:avLst/>
          </a:prstGeom>
          <a:solidFill>
            <a:srgbClr val="BCD2E6"/>
          </a:solidFill>
          <a:ln/>
        </p:spPr>
      </p:sp>
      <p:sp>
        <p:nvSpPr>
          <p:cNvPr id="26" name="Shape 24"/>
          <p:cNvSpPr/>
          <p:nvPr/>
        </p:nvSpPr>
        <p:spPr>
          <a:xfrm>
            <a:off x="6582537" y="1755648"/>
            <a:ext cx="350901" cy="68580"/>
          </a:xfrm>
          <a:prstGeom prst="rect">
            <a:avLst/>
          </a:prstGeom>
          <a:solidFill>
            <a:srgbClr val="BCD2E6"/>
          </a:solidFill>
          <a:ln/>
        </p:spPr>
      </p:sp>
      <p:sp>
        <p:nvSpPr>
          <p:cNvPr id="27" name="Shape 25"/>
          <p:cNvSpPr/>
          <p:nvPr/>
        </p:nvSpPr>
        <p:spPr>
          <a:xfrm>
            <a:off x="6965442" y="1755648"/>
            <a:ext cx="350901" cy="68580"/>
          </a:xfrm>
          <a:prstGeom prst="rect">
            <a:avLst/>
          </a:prstGeom>
          <a:solidFill>
            <a:srgbClr val="BCD2E6"/>
          </a:solidFill>
          <a:ln/>
        </p:spPr>
      </p:sp>
      <p:sp>
        <p:nvSpPr>
          <p:cNvPr id="28" name="Shape 26"/>
          <p:cNvSpPr/>
          <p:nvPr/>
        </p:nvSpPr>
        <p:spPr>
          <a:xfrm>
            <a:off x="7348347" y="1755648"/>
            <a:ext cx="350901" cy="68580"/>
          </a:xfrm>
          <a:prstGeom prst="rect">
            <a:avLst/>
          </a:prstGeom>
          <a:solidFill>
            <a:srgbClr val="BCD2E6"/>
          </a:solidFill>
          <a:ln/>
        </p:spPr>
      </p:sp>
      <p:sp>
        <p:nvSpPr>
          <p:cNvPr id="29" name="Shape 27"/>
          <p:cNvSpPr/>
          <p:nvPr/>
        </p:nvSpPr>
        <p:spPr>
          <a:xfrm>
            <a:off x="6199632" y="1865376"/>
            <a:ext cx="350901" cy="68580"/>
          </a:xfrm>
          <a:prstGeom prst="rect">
            <a:avLst/>
          </a:prstGeom>
          <a:solidFill>
            <a:srgbClr val="E9EEF3"/>
          </a:solidFill>
          <a:ln/>
        </p:spPr>
      </p:sp>
      <p:sp>
        <p:nvSpPr>
          <p:cNvPr id="30" name="Shape 28"/>
          <p:cNvSpPr/>
          <p:nvPr/>
        </p:nvSpPr>
        <p:spPr>
          <a:xfrm>
            <a:off x="6582537" y="1865376"/>
            <a:ext cx="350901" cy="68580"/>
          </a:xfrm>
          <a:prstGeom prst="rect">
            <a:avLst/>
          </a:prstGeom>
          <a:solidFill>
            <a:srgbClr val="E9EEF3"/>
          </a:solidFill>
          <a:ln/>
        </p:spPr>
      </p:sp>
      <p:sp>
        <p:nvSpPr>
          <p:cNvPr id="31" name="Shape 29"/>
          <p:cNvSpPr/>
          <p:nvPr/>
        </p:nvSpPr>
        <p:spPr>
          <a:xfrm>
            <a:off x="6965442" y="1865376"/>
            <a:ext cx="350901" cy="68580"/>
          </a:xfrm>
          <a:prstGeom prst="rect">
            <a:avLst/>
          </a:prstGeom>
          <a:solidFill>
            <a:srgbClr val="E9EEF3"/>
          </a:solidFill>
          <a:ln/>
        </p:spPr>
      </p:sp>
      <p:sp>
        <p:nvSpPr>
          <p:cNvPr id="32" name="Shape 30"/>
          <p:cNvSpPr/>
          <p:nvPr/>
        </p:nvSpPr>
        <p:spPr>
          <a:xfrm>
            <a:off x="7348347" y="1865376"/>
            <a:ext cx="350901" cy="68580"/>
          </a:xfrm>
          <a:prstGeom prst="rect">
            <a:avLst/>
          </a:prstGeom>
          <a:solidFill>
            <a:srgbClr val="E9EEF3"/>
          </a:solidFill>
          <a:ln/>
        </p:spPr>
      </p:sp>
      <p:sp>
        <p:nvSpPr>
          <p:cNvPr id="33" name="Shape 31"/>
          <p:cNvSpPr/>
          <p:nvPr/>
        </p:nvSpPr>
        <p:spPr>
          <a:xfrm>
            <a:off x="6199632" y="1975104"/>
            <a:ext cx="350901" cy="68580"/>
          </a:xfrm>
          <a:prstGeom prst="rect">
            <a:avLst/>
          </a:prstGeom>
          <a:solidFill>
            <a:srgbClr val="E9EEF3"/>
          </a:solidFill>
          <a:ln/>
        </p:spPr>
      </p:sp>
      <p:sp>
        <p:nvSpPr>
          <p:cNvPr id="34" name="Shape 32"/>
          <p:cNvSpPr/>
          <p:nvPr/>
        </p:nvSpPr>
        <p:spPr>
          <a:xfrm>
            <a:off x="6582537" y="1975104"/>
            <a:ext cx="350901" cy="68580"/>
          </a:xfrm>
          <a:prstGeom prst="rect">
            <a:avLst/>
          </a:prstGeom>
          <a:solidFill>
            <a:srgbClr val="E9EEF3"/>
          </a:solidFill>
          <a:ln/>
        </p:spPr>
      </p:sp>
      <p:sp>
        <p:nvSpPr>
          <p:cNvPr id="35" name="Shape 33"/>
          <p:cNvSpPr/>
          <p:nvPr/>
        </p:nvSpPr>
        <p:spPr>
          <a:xfrm>
            <a:off x="6965442" y="1975104"/>
            <a:ext cx="350901" cy="68580"/>
          </a:xfrm>
          <a:prstGeom prst="rect">
            <a:avLst/>
          </a:prstGeom>
          <a:solidFill>
            <a:srgbClr val="E9EEF3"/>
          </a:solidFill>
          <a:ln/>
        </p:spPr>
      </p:sp>
      <p:sp>
        <p:nvSpPr>
          <p:cNvPr id="36" name="Shape 34"/>
          <p:cNvSpPr/>
          <p:nvPr/>
        </p:nvSpPr>
        <p:spPr>
          <a:xfrm>
            <a:off x="7348347" y="1975104"/>
            <a:ext cx="350901" cy="68580"/>
          </a:xfrm>
          <a:prstGeom prst="rect">
            <a:avLst/>
          </a:prstGeom>
          <a:solidFill>
            <a:srgbClr val="E9EEF3"/>
          </a:solidFill>
          <a:ln/>
        </p:spPr>
      </p:sp>
      <p:sp>
        <p:nvSpPr>
          <p:cNvPr id="37" name="Shape 35"/>
          <p:cNvSpPr/>
          <p:nvPr/>
        </p:nvSpPr>
        <p:spPr>
          <a:xfrm>
            <a:off x="6867144" y="2331720"/>
            <a:ext cx="164592" cy="64008"/>
          </a:xfrm>
          <a:prstGeom prst="rect">
            <a:avLst/>
          </a:prstGeom>
          <a:solidFill>
            <a:srgbClr val="C8D6E2"/>
          </a:solidFill>
          <a:ln/>
        </p:spPr>
      </p:sp>
      <p:sp>
        <p:nvSpPr>
          <p:cNvPr id="38" name="Shape 36"/>
          <p:cNvSpPr/>
          <p:nvPr/>
        </p:nvSpPr>
        <p:spPr>
          <a:xfrm>
            <a:off x="6675120" y="2395728"/>
            <a:ext cx="548640" cy="54864"/>
          </a:xfrm>
          <a:prstGeom prst="rect">
            <a:avLst/>
          </a:prstGeom>
          <a:solidFill>
            <a:srgbClr val="2F5D8A"/>
          </a:solidFill>
          <a:ln/>
        </p:spPr>
      </p:sp>
      <p:sp>
        <p:nvSpPr>
          <p:cNvPr id="39" name="Text 37"/>
          <p:cNvSpPr/>
          <p:nvPr/>
        </p:nvSpPr>
        <p:spPr>
          <a:xfrm>
            <a:off x="5806440" y="2496312"/>
            <a:ext cx="2286000"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Yu Gothic" pitchFamily="34" charset="0"/>
                <a:ea typeface="Yu Gothic" pitchFamily="34" charset="-122"/>
                <a:cs typeface="Yu Gothic" pitchFamily="34" charset="-120"/>
              </a:rPr>
              <a:t>台帳PC</a:t>
            </a:r>
            <a:endParaRPr lang="en-US" sz="1000" dirty="0"/>
          </a:p>
        </p:txBody>
      </p:sp>
      <p:sp>
        <p:nvSpPr>
          <p:cNvPr id="40" name="Text 38"/>
          <p:cNvSpPr/>
          <p:nvPr/>
        </p:nvSpPr>
        <p:spPr>
          <a:xfrm>
            <a:off x="5669280" y="2715768"/>
            <a:ext cx="2560320" cy="411480"/>
          </a:xfrm>
          <a:prstGeom prst="rect">
            <a:avLst/>
          </a:prstGeom>
          <a:noFill/>
          <a:ln/>
        </p:spPr>
        <p:txBody>
          <a:bodyPr wrap="square" lIns="0" tIns="0" rIns="0" bIns="0" rtlCol="0" anchor="t"/>
          <a:lstStyle/>
          <a:p>
            <a:pPr algn="ctr" indent="0" marL="0">
              <a:lnSpc>
                <a:spcPct val="120000"/>
              </a:lnSpc>
              <a:buNone/>
            </a:pPr>
            <a:r>
              <a:rPr lang="en-US" sz="800" dirty="0">
                <a:solidFill>
                  <a:srgbClr val="5C6770"/>
                </a:solidFill>
                <a:latin typeface="Yu Gothic" pitchFamily="34" charset="0"/>
                <a:ea typeface="Yu Gothic" pitchFamily="34" charset="-122"/>
                <a:cs typeface="Yu Gothic" pitchFamily="34" charset="-120"/>
              </a:rPr>
              <a:t>1,000行超のExcel管理台帳から目視で行を探す</a:t>
            </a:r>
            <a:endParaRPr lang="en-US" sz="800" dirty="0"/>
          </a:p>
        </p:txBody>
      </p:sp>
      <p:sp>
        <p:nvSpPr>
          <p:cNvPr id="41" name="Text 39"/>
          <p:cNvSpPr/>
          <p:nvPr/>
        </p:nvSpPr>
        <p:spPr>
          <a:xfrm>
            <a:off x="3931920" y="1481328"/>
            <a:ext cx="1280160" cy="365760"/>
          </a:xfrm>
          <a:prstGeom prst="rect">
            <a:avLst/>
          </a:prstGeom>
          <a:noFill/>
          <a:ln/>
        </p:spPr>
        <p:txBody>
          <a:bodyPr wrap="square" lIns="0" tIns="0" rIns="0" bIns="0" rtlCol="0" anchor="ctr"/>
          <a:lstStyle/>
          <a:p>
            <a:pPr algn="ctr" indent="0" marL="0">
              <a:buNone/>
            </a:pPr>
            <a:r>
              <a:rPr lang="en-US" sz="2000" b="1" dirty="0">
                <a:solidFill>
                  <a:srgbClr val="2F8A7D"/>
                </a:solidFill>
                <a:latin typeface="Yu Gothic" pitchFamily="34" charset="0"/>
                <a:ea typeface="Yu Gothic" pitchFamily="34" charset="-122"/>
                <a:cs typeface="Yu Gothic" pitchFamily="34" charset="-120"/>
              </a:rPr>
              <a:t>⇄</a:t>
            </a:r>
            <a:endParaRPr lang="en-US" sz="2000" dirty="0"/>
          </a:p>
        </p:txBody>
      </p:sp>
      <p:sp>
        <p:nvSpPr>
          <p:cNvPr id="42" name="Shape 40"/>
          <p:cNvSpPr/>
          <p:nvPr/>
        </p:nvSpPr>
        <p:spPr>
          <a:xfrm>
            <a:off x="4489704" y="1920240"/>
            <a:ext cx="164592" cy="164592"/>
          </a:xfrm>
          <a:prstGeom prst="ellipse">
            <a:avLst/>
          </a:prstGeom>
          <a:solidFill>
            <a:srgbClr val="2F8A7D"/>
          </a:solidFill>
          <a:ln/>
        </p:spPr>
      </p:sp>
      <p:sp>
        <p:nvSpPr>
          <p:cNvPr id="43" name="Shape 41"/>
          <p:cNvSpPr/>
          <p:nvPr/>
        </p:nvSpPr>
        <p:spPr>
          <a:xfrm>
            <a:off x="4425696" y="2112264"/>
            <a:ext cx="292608" cy="164592"/>
          </a:xfrm>
          <a:prstGeom prst="roundRect">
            <a:avLst>
              <a:gd name="adj" fmla="val 50000"/>
            </a:avLst>
          </a:prstGeom>
          <a:solidFill>
            <a:srgbClr val="2F8A7D"/>
          </a:solidFill>
          <a:ln/>
        </p:spPr>
      </p:sp>
      <p:sp>
        <p:nvSpPr>
          <p:cNvPr id="44" name="Text 42"/>
          <p:cNvSpPr/>
          <p:nvPr/>
        </p:nvSpPr>
        <p:spPr>
          <a:xfrm>
            <a:off x="3840480" y="2331720"/>
            <a:ext cx="1463040" cy="411480"/>
          </a:xfrm>
          <a:prstGeom prst="rect">
            <a:avLst/>
          </a:prstGeom>
          <a:noFill/>
          <a:ln/>
        </p:spPr>
        <p:txBody>
          <a:bodyPr wrap="square" lIns="0" tIns="0" rIns="0" bIns="0" rtlCol="0" anchor="t"/>
          <a:lstStyle/>
          <a:p>
            <a:pPr algn="ctr" indent="0" marL="0">
              <a:lnSpc>
                <a:spcPct val="120000"/>
              </a:lnSpc>
              <a:buNone/>
            </a:pPr>
            <a:r>
              <a:rPr lang="en-US" sz="800" dirty="0">
                <a:solidFill>
                  <a:srgbClr val="5C6770"/>
                </a:solidFill>
                <a:latin typeface="Yu Gothic" pitchFamily="34" charset="0"/>
                <a:ea typeface="Yu Gothic" pitchFamily="34" charset="-122"/>
                <a:cs typeface="Yu Gothic" pitchFamily="34" charset="-120"/>
              </a:rPr>
              <a:t>作業者が1件ずつ手入力で往復</a:t>
            </a:r>
            <a:endParaRPr lang="en-US" sz="800" dirty="0"/>
          </a:p>
        </p:txBody>
      </p:sp>
      <p:sp>
        <p:nvSpPr>
          <p:cNvPr id="45" name="Text 43"/>
          <p:cNvSpPr/>
          <p:nvPr/>
        </p:nvSpPr>
        <p:spPr>
          <a:xfrm>
            <a:off x="2176272" y="3310128"/>
            <a:ext cx="4480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撮影</a:t>
            </a:r>
            <a:endParaRPr lang="en-US" sz="900" dirty="0"/>
          </a:p>
        </p:txBody>
      </p:sp>
      <p:sp>
        <p:nvSpPr>
          <p:cNvPr id="46" name="Text 44"/>
          <p:cNvSpPr/>
          <p:nvPr/>
        </p:nvSpPr>
        <p:spPr>
          <a:xfrm>
            <a:off x="2624328" y="3310128"/>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47" name="Text 45"/>
          <p:cNvSpPr/>
          <p:nvPr/>
        </p:nvSpPr>
        <p:spPr>
          <a:xfrm>
            <a:off x="2862072" y="3310128"/>
            <a:ext cx="7909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測定値確認</a:t>
            </a:r>
            <a:endParaRPr lang="en-US" sz="900" dirty="0"/>
          </a:p>
        </p:txBody>
      </p:sp>
      <p:sp>
        <p:nvSpPr>
          <p:cNvPr id="48" name="Text 46"/>
          <p:cNvSpPr/>
          <p:nvPr/>
        </p:nvSpPr>
        <p:spPr>
          <a:xfrm>
            <a:off x="3653028" y="3310128"/>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49" name="Text 47"/>
          <p:cNvSpPr/>
          <p:nvPr/>
        </p:nvSpPr>
        <p:spPr>
          <a:xfrm>
            <a:off x="3890772" y="3310128"/>
            <a:ext cx="10195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ファイル名入力</a:t>
            </a:r>
            <a:endParaRPr lang="en-US" sz="900" dirty="0"/>
          </a:p>
        </p:txBody>
      </p:sp>
      <p:sp>
        <p:nvSpPr>
          <p:cNvPr id="50" name="Text 48"/>
          <p:cNvSpPr/>
          <p:nvPr/>
        </p:nvSpPr>
        <p:spPr>
          <a:xfrm>
            <a:off x="4910328" y="3310128"/>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51" name="Text 49"/>
          <p:cNvSpPr/>
          <p:nvPr/>
        </p:nvSpPr>
        <p:spPr>
          <a:xfrm>
            <a:off x="5148072" y="3310128"/>
            <a:ext cx="11338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台帳から行を探す</a:t>
            </a:r>
            <a:endParaRPr lang="en-US" sz="900" dirty="0"/>
          </a:p>
        </p:txBody>
      </p:sp>
      <p:sp>
        <p:nvSpPr>
          <p:cNvPr id="52" name="Text 50"/>
          <p:cNvSpPr/>
          <p:nvPr/>
        </p:nvSpPr>
        <p:spPr>
          <a:xfrm>
            <a:off x="6281928" y="3310128"/>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53" name="Text 51"/>
          <p:cNvSpPr/>
          <p:nvPr/>
        </p:nvSpPr>
        <p:spPr>
          <a:xfrm>
            <a:off x="6519672" y="3310128"/>
            <a:ext cx="4480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転記</a:t>
            </a:r>
            <a:endParaRPr lang="en-US" sz="900" dirty="0"/>
          </a:p>
        </p:txBody>
      </p:sp>
      <p:sp>
        <p:nvSpPr>
          <p:cNvPr id="54" name="Text 52"/>
          <p:cNvSpPr/>
          <p:nvPr/>
        </p:nvSpPr>
        <p:spPr>
          <a:xfrm>
            <a:off x="457200" y="3657600"/>
            <a:ext cx="8229600" cy="201168"/>
          </a:xfrm>
          <a:prstGeom prst="rect">
            <a:avLst/>
          </a:prstGeom>
          <a:noFill/>
          <a:ln/>
        </p:spPr>
        <p:txBody>
          <a:bodyPr wrap="square" lIns="0" tIns="0" rIns="0" bIns="0" rtlCol="0" anchor="ctr"/>
          <a:lstStyle/>
          <a:p>
            <a:pPr algn="ctr" indent="0" marL="0">
              <a:buNone/>
            </a:pPr>
            <a:r>
              <a:rPr lang="en-US" sz="750" dirty="0">
                <a:solidFill>
                  <a:srgbClr val="8A949E"/>
                </a:solidFill>
                <a:latin typeface="Yu Gothic" pitchFamily="34" charset="0"/>
                <a:ea typeface="Yu Gothic" pitchFamily="34" charset="-122"/>
                <a:cs typeface="Yu Gothic" pitchFamily="34" charset="-120"/>
              </a:rPr>
              <a:t>※これを1件ずつ繰り返す</a:t>
            </a:r>
            <a:endParaRPr lang="en-US" sz="750" dirty="0"/>
          </a:p>
        </p:txBody>
      </p:sp>
      <p:sp>
        <p:nvSpPr>
          <p:cNvPr id="55" name="Shape 53"/>
          <p:cNvSpPr/>
          <p:nvPr/>
        </p:nvSpPr>
        <p:spPr>
          <a:xfrm>
            <a:off x="457200" y="3977640"/>
            <a:ext cx="8229600" cy="566928"/>
          </a:xfrm>
          <a:prstGeom prst="rect">
            <a:avLst/>
          </a:prstGeom>
          <a:solidFill>
            <a:srgbClr val="EEF3F8"/>
          </a:solidFill>
          <a:ln w="9525">
            <a:solidFill>
              <a:srgbClr val="D3E0EC"/>
            </a:solidFill>
            <a:prstDash val="solid"/>
          </a:ln>
        </p:spPr>
      </p:sp>
      <p:sp>
        <p:nvSpPr>
          <p:cNvPr id="56" name="Shape 54"/>
          <p:cNvSpPr/>
          <p:nvPr/>
        </p:nvSpPr>
        <p:spPr>
          <a:xfrm>
            <a:off x="457200" y="3977640"/>
            <a:ext cx="54864" cy="566928"/>
          </a:xfrm>
          <a:prstGeom prst="rect">
            <a:avLst/>
          </a:prstGeom>
          <a:solidFill>
            <a:srgbClr val="2F5D8A"/>
          </a:solidFill>
          <a:ln/>
        </p:spPr>
      </p:sp>
      <p:sp>
        <p:nvSpPr>
          <p:cNvPr id="57" name="Text 55"/>
          <p:cNvSpPr/>
          <p:nvPr/>
        </p:nvSpPr>
        <p:spPr>
          <a:xfrm>
            <a:off x="685800" y="3977640"/>
            <a:ext cx="7863840" cy="566928"/>
          </a:xfrm>
          <a:prstGeom prst="rect">
            <a:avLst/>
          </a:prstGeom>
          <a:noFill/>
          <a:ln/>
        </p:spPr>
        <p:txBody>
          <a:bodyPr wrap="square" lIns="0" tIns="0" rIns="0" bIns="0" rtlCol="0" anchor="ctr"/>
          <a:lstStyle/>
          <a:p>
            <a:pPr indent="0" marL="0">
              <a:buNone/>
            </a:pPr>
            <a:r>
              <a:rPr lang="en-US" sz="1100" b="1" dirty="0">
                <a:solidFill>
                  <a:srgbClr val="1F2933"/>
                </a:solidFill>
                <a:latin typeface="Yu Gothic" pitchFamily="34" charset="0"/>
                <a:ea typeface="Yu Gothic" pitchFamily="34" charset="-122"/>
                <a:cs typeface="Yu Gothic" pitchFamily="34" charset="-120"/>
              </a:rPr>
              <a:t>課題は作業者の注意力ではなく、人が毎回“探す・照合する・転記する”ことを前提にした作業設計にありました。</a:t>
            </a:r>
            <a:endParaRPr lang="en-US" sz="1100" dirty="0"/>
          </a:p>
        </p:txBody>
      </p:sp>
      <p:sp>
        <p:nvSpPr>
          <p:cNvPr id="58" name="Text 56"/>
          <p:cNvSpPr/>
          <p:nvPr/>
        </p:nvSpPr>
        <p:spPr>
          <a:xfrm>
            <a:off x="457200" y="4818888"/>
            <a:ext cx="6949440" cy="219456"/>
          </a:xfrm>
          <a:prstGeom prst="rect">
            <a:avLst/>
          </a:prstGeom>
          <a:noFill/>
          <a:ln/>
        </p:spPr>
        <p:txBody>
          <a:bodyPr wrap="square" lIns="0" tIns="0" rIns="0" bIns="0" rtlCol="0" anchor="ctr"/>
          <a:lstStyle/>
          <a:p>
            <a:pPr indent="0" marL="0">
              <a:buNone/>
            </a:pPr>
            <a:r>
              <a:rPr lang="en-US" sz="750" dirty="0">
                <a:solidFill>
                  <a:srgbClr val="8A949E"/>
                </a:solidFill>
                <a:latin typeface="Yu Gothic" pitchFamily="34" charset="0"/>
                <a:ea typeface="Yu Gothic" pitchFamily="34" charset="-122"/>
                <a:cs typeface="Yu Gothic" pitchFamily="34" charset="-120"/>
              </a:rPr>
              <a:t>検査記録作業のExcel自動化｜業務改善ケーススタディ</a:t>
            </a:r>
            <a:endParaRPr lang="en-US" sz="750" dirty="0"/>
          </a:p>
        </p:txBody>
      </p:sp>
      <p:sp>
        <p:nvSpPr>
          <p:cNvPr id="59" name="Text 57"/>
          <p:cNvSpPr/>
          <p:nvPr/>
        </p:nvSpPr>
        <p:spPr>
          <a:xfrm>
            <a:off x="7680960" y="4818888"/>
            <a:ext cx="1005840" cy="219456"/>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03 / 07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2F5D8A"/>
          </a:solidFill>
          <a:ln/>
        </p:spPr>
      </p:sp>
      <p:sp>
        <p:nvSpPr>
          <p:cNvPr id="3" name="Shape 1"/>
          <p:cNvSpPr/>
          <p:nvPr/>
        </p:nvSpPr>
        <p:spPr>
          <a:xfrm>
            <a:off x="457200" y="393192"/>
            <a:ext cx="182880" cy="21946"/>
          </a:xfrm>
          <a:prstGeom prst="rect">
            <a:avLst/>
          </a:prstGeom>
          <a:solidFill>
            <a:srgbClr val="2F5D8A"/>
          </a:solidFill>
          <a:ln/>
        </p:spPr>
      </p:sp>
      <p:sp>
        <p:nvSpPr>
          <p:cNvPr id="4" name="Text 2"/>
          <p:cNvSpPr/>
          <p:nvPr/>
        </p:nvSpPr>
        <p:spPr>
          <a:xfrm>
            <a:off x="694944" y="274320"/>
            <a:ext cx="5029200" cy="256032"/>
          </a:xfrm>
          <a:prstGeom prst="rect">
            <a:avLst/>
          </a:prstGeom>
          <a:noFill/>
          <a:ln/>
        </p:spPr>
        <p:txBody>
          <a:bodyPr wrap="square" lIns="0" tIns="0" rIns="0" bIns="0" rtlCol="0" anchor="ctr"/>
          <a:lstStyle/>
          <a:p>
            <a:pPr indent="0" marL="0">
              <a:buNone/>
            </a:pPr>
            <a:r>
              <a:rPr lang="en-US" sz="1050" b="1" spc="100" kern="0" dirty="0">
                <a:solidFill>
                  <a:srgbClr val="2F5D8A"/>
                </a:solidFill>
                <a:latin typeface="Yu Gothic" pitchFamily="34" charset="0"/>
                <a:ea typeface="Yu Gothic" pitchFamily="34" charset="-122"/>
                <a:cs typeface="Yu Gothic" pitchFamily="34" charset="-120"/>
              </a:rPr>
              <a:t>04｜工夫した仕組み</a:t>
            </a:r>
            <a:endParaRPr lang="en-US" sz="1050" dirty="0"/>
          </a:p>
        </p:txBody>
      </p:sp>
      <p:sp>
        <p:nvSpPr>
          <p:cNvPr id="5" name="Text 3"/>
          <p:cNvSpPr/>
          <p:nvPr/>
        </p:nvSpPr>
        <p:spPr>
          <a:xfrm>
            <a:off x="5486400" y="274320"/>
            <a:ext cx="3200400" cy="256032"/>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検査記録作業のExcel自動化</a:t>
            </a:r>
            <a:endParaRPr lang="en-US" sz="800" dirty="0"/>
          </a:p>
        </p:txBody>
      </p:sp>
      <p:sp>
        <p:nvSpPr>
          <p:cNvPr id="6" name="Text 4"/>
          <p:cNvSpPr/>
          <p:nvPr/>
        </p:nvSpPr>
        <p:spPr>
          <a:xfrm>
            <a:off x="457200" y="603504"/>
            <a:ext cx="8229600" cy="384048"/>
          </a:xfrm>
          <a:prstGeom prst="rect">
            <a:avLst/>
          </a:prstGeom>
          <a:noFill/>
          <a:ln/>
        </p:spPr>
        <p:txBody>
          <a:bodyPr wrap="square" lIns="0" tIns="0" rIns="0" bIns="0" rtlCol="0" anchor="ctr"/>
          <a:lstStyle/>
          <a:p>
            <a:pPr indent="0" marL="0">
              <a:buNone/>
            </a:pPr>
            <a:r>
              <a:rPr lang="en-US" sz="1700" b="1" dirty="0">
                <a:solidFill>
                  <a:srgbClr val="1F2933"/>
                </a:solidFill>
                <a:latin typeface="Yu Gothic" pitchFamily="34" charset="0"/>
                <a:ea typeface="Yu Gothic" pitchFamily="34" charset="-122"/>
                <a:cs typeface="Yu Gothic" pitchFamily="34" charset="-120"/>
              </a:rPr>
              <a:t>画像ファイル名を、Excelが読める入力フォームとして使った</a:t>
            </a:r>
            <a:endParaRPr lang="en-US" sz="1700" dirty="0"/>
          </a:p>
        </p:txBody>
      </p:sp>
      <p:sp>
        <p:nvSpPr>
          <p:cNvPr id="7" name="Text 5"/>
          <p:cNvSpPr/>
          <p:nvPr/>
        </p:nvSpPr>
        <p:spPr>
          <a:xfrm>
            <a:off x="457200" y="1005840"/>
            <a:ext cx="8229600" cy="292608"/>
          </a:xfrm>
          <a:prstGeom prst="rect">
            <a:avLst/>
          </a:prstGeom>
          <a:noFill/>
          <a:ln/>
        </p:spPr>
        <p:txBody>
          <a:bodyPr wrap="square" lIns="0" tIns="0" rIns="0" bIns="0" rtlCol="0" anchor="ctr"/>
          <a:lstStyle/>
          <a:p>
            <a:pPr indent="0" marL="0">
              <a:buNone/>
            </a:pPr>
            <a:r>
              <a:rPr lang="en-US" sz="1050" dirty="0">
                <a:solidFill>
                  <a:srgbClr val="5C6770"/>
                </a:solidFill>
                <a:latin typeface="Yu Gothic" pitchFamily="34" charset="0"/>
                <a:ea typeface="Yu Gothic" pitchFamily="34" charset="-122"/>
                <a:cs typeface="Yu Gothic" pitchFamily="34" charset="-120"/>
              </a:rPr>
              <a:t>測定器とExcel台帳を直接連携できない環境で、ファイル名を「データの入口」にしました。</a:t>
            </a:r>
            <a:endParaRPr lang="en-US" sz="1050" dirty="0"/>
          </a:p>
        </p:txBody>
      </p:sp>
      <p:sp>
        <p:nvSpPr>
          <p:cNvPr id="8" name="Shape 6"/>
          <p:cNvSpPr/>
          <p:nvPr/>
        </p:nvSpPr>
        <p:spPr>
          <a:xfrm>
            <a:off x="457200" y="1417320"/>
            <a:ext cx="1837944" cy="1170432"/>
          </a:xfrm>
          <a:prstGeom prst="roundRect">
            <a:avLst>
              <a:gd name="adj" fmla="val 4688"/>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9" name="Text 7"/>
          <p:cNvSpPr/>
          <p:nvPr/>
        </p:nvSpPr>
        <p:spPr>
          <a:xfrm>
            <a:off x="512064" y="1508760"/>
            <a:ext cx="1728216"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Yu Gothic" pitchFamily="34" charset="0"/>
                <a:ea typeface="Yu Gothic" pitchFamily="34" charset="-122"/>
                <a:cs typeface="Yu Gothic" pitchFamily="34" charset="-120"/>
              </a:rPr>
              <a:t>画像ファイル名</a:t>
            </a:r>
            <a:endParaRPr lang="en-US" sz="1100" dirty="0"/>
          </a:p>
        </p:txBody>
      </p:sp>
      <p:sp>
        <p:nvSpPr>
          <p:cNvPr id="10" name="Text 8"/>
          <p:cNvSpPr/>
          <p:nvPr/>
        </p:nvSpPr>
        <p:spPr>
          <a:xfrm>
            <a:off x="576072" y="1819656"/>
            <a:ext cx="1600200" cy="237744"/>
          </a:xfrm>
          <a:prstGeom prst="roundRect">
            <a:avLst>
              <a:gd name="adj" fmla="val 15385"/>
            </a:avLst>
          </a:prstGeom>
          <a:solidFill>
            <a:srgbClr val="F0F3F6"/>
          </a:solidFill>
          <a:ln w="9525">
            <a:solidFill>
              <a:srgbClr val="E3E7EC"/>
            </a:solidFill>
          </a:ln>
        </p:spPr>
        <p:txBody>
          <a:bodyPr wrap="square" lIns="0" tIns="0" rIns="0" bIns="0" rtlCol="0" anchor="ctr"/>
          <a:lstStyle/>
          <a:p>
            <a:pPr algn="ctr" indent="0" marL="0">
              <a:buNone/>
            </a:pPr>
            <a:r>
              <a:rPr lang="en-US" sz="750" dirty="0">
                <a:solidFill>
                  <a:srgbClr val="1F2933"/>
                </a:solidFill>
                <a:latin typeface="Consolas" pitchFamily="34" charset="0"/>
                <a:ea typeface="Consolas" pitchFamily="34" charset="-122"/>
                <a:cs typeface="Consolas" pitchFamily="34" charset="-120"/>
              </a:rPr>
              <a:t>sample_condition_001.jpg</a:t>
            </a:r>
            <a:endParaRPr lang="en-US" sz="750" dirty="0"/>
          </a:p>
        </p:txBody>
      </p:sp>
      <p:sp>
        <p:nvSpPr>
          <p:cNvPr id="11" name="Text 9"/>
          <p:cNvSpPr/>
          <p:nvPr/>
        </p:nvSpPr>
        <p:spPr>
          <a:xfrm>
            <a:off x="530352" y="2112264"/>
            <a:ext cx="1691640" cy="420624"/>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命名規則で必要情報を埋め込む</a:t>
            </a:r>
            <a:endParaRPr lang="en-US" sz="750" dirty="0"/>
          </a:p>
        </p:txBody>
      </p:sp>
      <p:sp>
        <p:nvSpPr>
          <p:cNvPr id="12" name="Text 10"/>
          <p:cNvSpPr/>
          <p:nvPr/>
        </p:nvSpPr>
        <p:spPr>
          <a:xfrm>
            <a:off x="2295144" y="1865376"/>
            <a:ext cx="292608"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13" name="Shape 11"/>
          <p:cNvSpPr/>
          <p:nvPr/>
        </p:nvSpPr>
        <p:spPr>
          <a:xfrm>
            <a:off x="2587752" y="1417320"/>
            <a:ext cx="1837944" cy="1170432"/>
          </a:xfrm>
          <a:prstGeom prst="roundRect">
            <a:avLst>
              <a:gd name="adj" fmla="val 4688"/>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14" name="Text 12"/>
          <p:cNvSpPr/>
          <p:nvPr/>
        </p:nvSpPr>
        <p:spPr>
          <a:xfrm>
            <a:off x="2642616" y="1508760"/>
            <a:ext cx="1728216"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Yu Gothic" pitchFamily="34" charset="0"/>
                <a:ea typeface="Yu Gothic" pitchFamily="34" charset="-122"/>
                <a:cs typeface="Yu Gothic" pitchFamily="34" charset="-120"/>
              </a:rPr>
              <a:t>Excel関数・VBA</a:t>
            </a:r>
            <a:endParaRPr lang="en-US" sz="1100" dirty="0"/>
          </a:p>
        </p:txBody>
      </p:sp>
      <p:sp>
        <p:nvSpPr>
          <p:cNvPr id="15" name="Text 13"/>
          <p:cNvSpPr/>
          <p:nvPr/>
        </p:nvSpPr>
        <p:spPr>
          <a:xfrm>
            <a:off x="2660904" y="1819656"/>
            <a:ext cx="1691640" cy="713232"/>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ファイル名から情報を自動抽出する</a:t>
            </a:r>
            <a:endParaRPr lang="en-US" sz="750" dirty="0"/>
          </a:p>
        </p:txBody>
      </p:sp>
      <p:sp>
        <p:nvSpPr>
          <p:cNvPr id="16" name="Text 14"/>
          <p:cNvSpPr/>
          <p:nvPr/>
        </p:nvSpPr>
        <p:spPr>
          <a:xfrm>
            <a:off x="4425696" y="1865376"/>
            <a:ext cx="292608"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17" name="Shape 15"/>
          <p:cNvSpPr/>
          <p:nvPr/>
        </p:nvSpPr>
        <p:spPr>
          <a:xfrm>
            <a:off x="4718304" y="1417320"/>
            <a:ext cx="1837944" cy="1170432"/>
          </a:xfrm>
          <a:prstGeom prst="roundRect">
            <a:avLst>
              <a:gd name="adj" fmla="val 4688"/>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18" name="Text 16"/>
          <p:cNvSpPr/>
          <p:nvPr/>
        </p:nvSpPr>
        <p:spPr>
          <a:xfrm>
            <a:off x="4773168" y="1508760"/>
            <a:ext cx="1728216"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Yu Gothic" pitchFamily="34" charset="0"/>
                <a:ea typeface="Yu Gothic" pitchFamily="34" charset="-122"/>
                <a:cs typeface="Yu Gothic" pitchFamily="34" charset="-120"/>
              </a:rPr>
              <a:t>管理台帳</a:t>
            </a:r>
            <a:endParaRPr lang="en-US" sz="1100" dirty="0"/>
          </a:p>
        </p:txBody>
      </p:sp>
      <p:sp>
        <p:nvSpPr>
          <p:cNvPr id="19" name="Text 17"/>
          <p:cNvSpPr/>
          <p:nvPr/>
        </p:nvSpPr>
        <p:spPr>
          <a:xfrm>
            <a:off x="4791456" y="1819656"/>
            <a:ext cx="1691640" cy="713232"/>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該当行へ自動で照合する</a:t>
            </a:r>
            <a:endParaRPr lang="en-US" sz="750" dirty="0"/>
          </a:p>
        </p:txBody>
      </p:sp>
      <p:sp>
        <p:nvSpPr>
          <p:cNvPr id="20" name="Text 18"/>
          <p:cNvSpPr/>
          <p:nvPr/>
        </p:nvSpPr>
        <p:spPr>
          <a:xfrm>
            <a:off x="6556248" y="1865376"/>
            <a:ext cx="292608"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21" name="Shape 19"/>
          <p:cNvSpPr/>
          <p:nvPr/>
        </p:nvSpPr>
        <p:spPr>
          <a:xfrm>
            <a:off x="6848856" y="1417320"/>
            <a:ext cx="1837944" cy="1170432"/>
          </a:xfrm>
          <a:prstGeom prst="roundRect">
            <a:avLst>
              <a:gd name="adj" fmla="val 4688"/>
            </a:avLst>
          </a:prstGeom>
          <a:solidFill>
            <a:srgbClr val="2F5D8A"/>
          </a:solidFill>
          <a:ln w="12700">
            <a:solidFill>
              <a:srgbClr val="2F5D8A"/>
            </a:solidFill>
            <a:prstDash val="solid"/>
          </a:ln>
          <a:effectLst>
            <a:outerShdw sx="100000" sy="100000" kx="0" ky="0" algn="bl" rotWithShape="0" blurRad="88900" dist="25400" dir="8100000">
              <a:srgbClr val="1F2933">
                <a:alpha val="10000"/>
              </a:srgbClr>
            </a:outerShdw>
          </a:effectLst>
        </p:spPr>
      </p:sp>
      <p:sp>
        <p:nvSpPr>
          <p:cNvPr id="22" name="Text 20"/>
          <p:cNvSpPr/>
          <p:nvPr/>
        </p:nvSpPr>
        <p:spPr>
          <a:xfrm>
            <a:off x="6903720" y="1508760"/>
            <a:ext cx="172821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転記</a:t>
            </a:r>
            <a:endParaRPr lang="en-US" sz="1100" dirty="0"/>
          </a:p>
        </p:txBody>
      </p:sp>
      <p:sp>
        <p:nvSpPr>
          <p:cNvPr id="23" name="Text 21"/>
          <p:cNvSpPr/>
          <p:nvPr/>
        </p:nvSpPr>
        <p:spPr>
          <a:xfrm>
            <a:off x="6922008" y="1819656"/>
            <a:ext cx="1691640" cy="713232"/>
          </a:xfrm>
          <a:prstGeom prst="rect">
            <a:avLst/>
          </a:prstGeom>
          <a:noFill/>
          <a:ln/>
        </p:spPr>
        <p:txBody>
          <a:bodyPr wrap="square" lIns="0" tIns="0" rIns="0" bIns="0" rtlCol="0" anchor="t"/>
          <a:lstStyle/>
          <a:p>
            <a:pPr algn="ctr" indent="0" marL="0">
              <a:lnSpc>
                <a:spcPct val="120000"/>
              </a:lnSpc>
              <a:buNone/>
            </a:pPr>
            <a:r>
              <a:rPr lang="en-US" sz="750" dirty="0">
                <a:solidFill>
                  <a:srgbClr val="D7E3EE"/>
                </a:solidFill>
                <a:latin typeface="Yu Gothic" pitchFamily="34" charset="0"/>
                <a:ea typeface="Yu Gothic" pitchFamily="34" charset="-122"/>
                <a:cs typeface="Yu Gothic" pitchFamily="34" charset="-120"/>
              </a:rPr>
              <a:t>必要セルへ自動入力し、人は結果を確認する</a:t>
            </a:r>
            <a:endParaRPr lang="en-US" sz="750" dirty="0"/>
          </a:p>
        </p:txBody>
      </p:sp>
      <p:sp>
        <p:nvSpPr>
          <p:cNvPr id="24" name="Text 22"/>
          <p:cNvSpPr/>
          <p:nvPr/>
        </p:nvSpPr>
        <p:spPr>
          <a:xfrm>
            <a:off x="457200" y="2761488"/>
            <a:ext cx="8229600" cy="237744"/>
          </a:xfrm>
          <a:prstGeom prst="rect">
            <a:avLst/>
          </a:prstGeom>
          <a:noFill/>
          <a:ln/>
        </p:spPr>
        <p:txBody>
          <a:bodyPr wrap="square" lIns="0" tIns="0" rIns="0" bIns="0" rtlCol="0" anchor="ctr"/>
          <a:lstStyle/>
          <a:p>
            <a:pPr algn="ctr" indent="0" marL="0">
              <a:buNone/>
            </a:pPr>
            <a:r>
              <a:rPr lang="en-US" sz="850" dirty="0">
                <a:solidFill>
                  <a:srgbClr val="5C6770"/>
                </a:solidFill>
                <a:latin typeface="Yu Gothic" pitchFamily="34" charset="0"/>
                <a:ea typeface="Yu Gothic" pitchFamily="34" charset="-122"/>
                <a:cs typeface="Yu Gothic" pitchFamily="34" charset="-120"/>
              </a:rPr>
              <a:t>撮影時にルールどおりファイル名を付けた時点で、台帳へ渡すデータの入力が済んでいる流れです。</a:t>
            </a:r>
            <a:endParaRPr lang="en-US" sz="850" dirty="0"/>
          </a:p>
        </p:txBody>
      </p:sp>
      <p:sp>
        <p:nvSpPr>
          <p:cNvPr id="25" name="Shape 23"/>
          <p:cNvSpPr/>
          <p:nvPr/>
        </p:nvSpPr>
        <p:spPr>
          <a:xfrm>
            <a:off x="457200" y="3182112"/>
            <a:ext cx="4041648" cy="960120"/>
          </a:xfrm>
          <a:prstGeom prst="roundRect">
            <a:avLst>
              <a:gd name="adj" fmla="val 6667"/>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26" name="Text 24"/>
          <p:cNvSpPr/>
          <p:nvPr/>
        </p:nvSpPr>
        <p:spPr>
          <a:xfrm>
            <a:off x="621792" y="3300984"/>
            <a:ext cx="3712464"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制約</a:t>
            </a:r>
            <a:endParaRPr lang="en-US" sz="1050" dirty="0"/>
          </a:p>
        </p:txBody>
      </p:sp>
      <p:sp>
        <p:nvSpPr>
          <p:cNvPr id="27" name="Text 25"/>
          <p:cNvSpPr/>
          <p:nvPr/>
        </p:nvSpPr>
        <p:spPr>
          <a:xfrm>
            <a:off x="621792" y="3584448"/>
            <a:ext cx="3712464" cy="44805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測定器とExcel台帳を直接つなぐ手段がない環境でした。</a:t>
            </a:r>
            <a:endParaRPr lang="en-US" sz="850" dirty="0"/>
          </a:p>
        </p:txBody>
      </p:sp>
      <p:sp>
        <p:nvSpPr>
          <p:cNvPr id="28" name="Shape 26"/>
          <p:cNvSpPr/>
          <p:nvPr/>
        </p:nvSpPr>
        <p:spPr>
          <a:xfrm>
            <a:off x="4645152" y="3182112"/>
            <a:ext cx="4041648" cy="960120"/>
          </a:xfrm>
          <a:prstGeom prst="roundRect">
            <a:avLst>
              <a:gd name="adj" fmla="val 6667"/>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29" name="Text 27"/>
          <p:cNvSpPr/>
          <p:nvPr/>
        </p:nvSpPr>
        <p:spPr>
          <a:xfrm>
            <a:off x="4809744" y="3300984"/>
            <a:ext cx="3712464"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工夫</a:t>
            </a:r>
            <a:endParaRPr lang="en-US" sz="1050" dirty="0"/>
          </a:p>
        </p:txBody>
      </p:sp>
      <p:sp>
        <p:nvSpPr>
          <p:cNvPr id="30" name="Text 28"/>
          <p:cNvSpPr/>
          <p:nvPr/>
        </p:nvSpPr>
        <p:spPr>
          <a:xfrm>
            <a:off x="4809744" y="3584448"/>
            <a:ext cx="3712464" cy="44805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専用システムを導入するのではなく、現場でそのまま使えるExcelとファイル名の設計だけで、データ連携に近い状態を作りました。</a:t>
            </a:r>
            <a:endParaRPr lang="en-US" sz="850" dirty="0"/>
          </a:p>
        </p:txBody>
      </p:sp>
      <p:sp>
        <p:nvSpPr>
          <p:cNvPr id="31" name="Text 29"/>
          <p:cNvSpPr/>
          <p:nvPr/>
        </p:nvSpPr>
        <p:spPr>
          <a:xfrm>
            <a:off x="457200" y="4818888"/>
            <a:ext cx="6949440" cy="219456"/>
          </a:xfrm>
          <a:prstGeom prst="rect">
            <a:avLst/>
          </a:prstGeom>
          <a:noFill/>
          <a:ln/>
        </p:spPr>
        <p:txBody>
          <a:bodyPr wrap="square" lIns="0" tIns="0" rIns="0" bIns="0" rtlCol="0" anchor="ctr"/>
          <a:lstStyle/>
          <a:p>
            <a:pPr indent="0" marL="0">
              <a:buNone/>
            </a:pPr>
            <a:r>
              <a:rPr lang="en-US" sz="750" dirty="0">
                <a:solidFill>
                  <a:srgbClr val="8A949E"/>
                </a:solidFill>
                <a:latin typeface="Yu Gothic" pitchFamily="34" charset="0"/>
                <a:ea typeface="Yu Gothic" pitchFamily="34" charset="-122"/>
                <a:cs typeface="Yu Gothic" pitchFamily="34" charset="-120"/>
              </a:rPr>
              <a:t>検査記録作業のExcel自動化｜業務改善ケーススタディ</a:t>
            </a:r>
            <a:endParaRPr lang="en-US" sz="750" dirty="0"/>
          </a:p>
        </p:txBody>
      </p:sp>
      <p:sp>
        <p:nvSpPr>
          <p:cNvPr id="32" name="Text 30"/>
          <p:cNvSpPr/>
          <p:nvPr/>
        </p:nvSpPr>
        <p:spPr>
          <a:xfrm>
            <a:off x="7680960" y="4818888"/>
            <a:ext cx="1005840" cy="219456"/>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04 / 07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2F5D8A"/>
          </a:solidFill>
          <a:ln/>
        </p:spPr>
      </p:sp>
      <p:sp>
        <p:nvSpPr>
          <p:cNvPr id="3" name="Shape 1"/>
          <p:cNvSpPr/>
          <p:nvPr/>
        </p:nvSpPr>
        <p:spPr>
          <a:xfrm>
            <a:off x="457200" y="393192"/>
            <a:ext cx="182880" cy="21946"/>
          </a:xfrm>
          <a:prstGeom prst="rect">
            <a:avLst/>
          </a:prstGeom>
          <a:solidFill>
            <a:srgbClr val="2F5D8A"/>
          </a:solidFill>
          <a:ln/>
        </p:spPr>
      </p:sp>
      <p:sp>
        <p:nvSpPr>
          <p:cNvPr id="4" name="Text 2"/>
          <p:cNvSpPr/>
          <p:nvPr/>
        </p:nvSpPr>
        <p:spPr>
          <a:xfrm>
            <a:off x="694944" y="274320"/>
            <a:ext cx="5029200" cy="256032"/>
          </a:xfrm>
          <a:prstGeom prst="rect">
            <a:avLst/>
          </a:prstGeom>
          <a:noFill/>
          <a:ln/>
        </p:spPr>
        <p:txBody>
          <a:bodyPr wrap="square" lIns="0" tIns="0" rIns="0" bIns="0" rtlCol="0" anchor="ctr"/>
          <a:lstStyle/>
          <a:p>
            <a:pPr indent="0" marL="0">
              <a:buNone/>
            </a:pPr>
            <a:r>
              <a:rPr lang="en-US" sz="1050" b="1" spc="100" kern="0" dirty="0">
                <a:solidFill>
                  <a:srgbClr val="2F5D8A"/>
                </a:solidFill>
                <a:latin typeface="Yu Gothic" pitchFamily="34" charset="0"/>
                <a:ea typeface="Yu Gothic" pitchFamily="34" charset="-122"/>
                <a:cs typeface="Yu Gothic" pitchFamily="34" charset="-120"/>
              </a:rPr>
              <a:t>05｜成果とBefore / After</a:t>
            </a:r>
            <a:endParaRPr lang="en-US" sz="1050" dirty="0"/>
          </a:p>
        </p:txBody>
      </p:sp>
      <p:sp>
        <p:nvSpPr>
          <p:cNvPr id="5" name="Text 3"/>
          <p:cNvSpPr/>
          <p:nvPr/>
        </p:nvSpPr>
        <p:spPr>
          <a:xfrm>
            <a:off x="5486400" y="274320"/>
            <a:ext cx="3200400" cy="256032"/>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検査記録作業のExcel自動化</a:t>
            </a:r>
            <a:endParaRPr lang="en-US" sz="800" dirty="0"/>
          </a:p>
        </p:txBody>
      </p:sp>
      <p:sp>
        <p:nvSpPr>
          <p:cNvPr id="6" name="Text 4"/>
          <p:cNvSpPr/>
          <p:nvPr/>
        </p:nvSpPr>
        <p:spPr>
          <a:xfrm>
            <a:off x="457200" y="603504"/>
            <a:ext cx="8229600" cy="384048"/>
          </a:xfrm>
          <a:prstGeom prst="rect">
            <a:avLst/>
          </a:prstGeom>
          <a:noFill/>
          <a:ln/>
        </p:spPr>
        <p:txBody>
          <a:bodyPr wrap="square" lIns="0" tIns="0" rIns="0" bIns="0" rtlCol="0" anchor="ctr"/>
          <a:lstStyle/>
          <a:p>
            <a:pPr indent="0" marL="0">
              <a:buNone/>
            </a:pPr>
            <a:r>
              <a:rPr lang="en-US" sz="1700" b="1" dirty="0">
                <a:solidFill>
                  <a:srgbClr val="1F2933"/>
                </a:solidFill>
                <a:latin typeface="Yu Gothic" pitchFamily="34" charset="0"/>
                <a:ea typeface="Yu Gothic" pitchFamily="34" charset="-122"/>
                <a:cs typeface="Yu Gothic" pitchFamily="34" charset="-120"/>
              </a:rPr>
              <a:t>手作業3〜4時間の記録作業を、約45分に短縮</a:t>
            </a:r>
            <a:endParaRPr lang="en-US" sz="1700" dirty="0"/>
          </a:p>
        </p:txBody>
      </p:sp>
      <p:sp>
        <p:nvSpPr>
          <p:cNvPr id="7" name="Shape 5"/>
          <p:cNvSpPr/>
          <p:nvPr/>
        </p:nvSpPr>
        <p:spPr>
          <a:xfrm>
            <a:off x="457200" y="1051560"/>
            <a:ext cx="2651760" cy="1645920"/>
          </a:xfrm>
          <a:prstGeom prst="roundRect">
            <a:avLst>
              <a:gd name="adj" fmla="val 3889"/>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8" name="Text 6"/>
          <p:cNvSpPr/>
          <p:nvPr/>
        </p:nvSpPr>
        <p:spPr>
          <a:xfrm>
            <a:off x="457200" y="1188720"/>
            <a:ext cx="2651760" cy="201168"/>
          </a:xfrm>
          <a:prstGeom prst="rect">
            <a:avLst/>
          </a:prstGeom>
          <a:noFill/>
          <a:ln/>
        </p:spPr>
        <p:txBody>
          <a:bodyPr wrap="square" lIns="0" tIns="0" rIns="0" bIns="0" rtlCol="0" anchor="ctr"/>
          <a:lstStyle/>
          <a:p>
            <a:pPr algn="ctr" indent="0" marL="0">
              <a:buNone/>
            </a:pPr>
            <a:r>
              <a:rPr lang="en-US" sz="900" dirty="0">
                <a:solidFill>
                  <a:srgbClr val="5C6770"/>
                </a:solidFill>
                <a:latin typeface="Yu Gothic" pitchFamily="34" charset="0"/>
                <a:ea typeface="Yu Gothic" pitchFamily="34" charset="-122"/>
                <a:cs typeface="Yu Gothic" pitchFamily="34" charset="-120"/>
              </a:rPr>
              <a:t>記録作業時間</a:t>
            </a:r>
            <a:endParaRPr lang="en-US" sz="900" dirty="0"/>
          </a:p>
        </p:txBody>
      </p:sp>
      <p:sp>
        <p:nvSpPr>
          <p:cNvPr id="9" name="Text 7"/>
          <p:cNvSpPr/>
          <p:nvPr/>
        </p:nvSpPr>
        <p:spPr>
          <a:xfrm>
            <a:off x="457200" y="1426464"/>
            <a:ext cx="2651760" cy="274320"/>
          </a:xfrm>
          <a:prstGeom prst="rect">
            <a:avLst/>
          </a:prstGeom>
          <a:noFill/>
          <a:ln/>
        </p:spPr>
        <p:txBody>
          <a:bodyPr wrap="square" lIns="0" tIns="0" rIns="0" bIns="0" rtlCol="0" anchor="ctr"/>
          <a:lstStyle/>
          <a:p>
            <a:pPr algn="ctr" indent="0" marL="0">
              <a:buNone/>
            </a:pPr>
            <a:r>
              <a:rPr lang="en-US" sz="1300" b="1" dirty="0">
                <a:solidFill>
                  <a:srgbClr val="5C6770"/>
                </a:solidFill>
                <a:latin typeface="Yu Gothic" pitchFamily="34" charset="0"/>
                <a:ea typeface="Yu Gothic" pitchFamily="34" charset="-122"/>
                <a:cs typeface="Yu Gothic" pitchFamily="34" charset="-120"/>
              </a:rPr>
              <a:t>手作業 3〜4時間</a:t>
            </a:r>
            <a:endParaRPr lang="en-US" sz="1300" dirty="0"/>
          </a:p>
        </p:txBody>
      </p:sp>
      <p:sp>
        <p:nvSpPr>
          <p:cNvPr id="10" name="Text 8"/>
          <p:cNvSpPr/>
          <p:nvPr/>
        </p:nvSpPr>
        <p:spPr>
          <a:xfrm>
            <a:off x="457200" y="1719072"/>
            <a:ext cx="2651760" cy="256032"/>
          </a:xfrm>
          <a:prstGeom prst="rect">
            <a:avLst/>
          </a:prstGeom>
          <a:noFill/>
          <a:ln/>
        </p:spPr>
        <p:txBody>
          <a:bodyPr wrap="square" lIns="0" tIns="0" rIns="0" bIns="0" rtlCol="0" anchor="ctr"/>
          <a:lstStyle/>
          <a:p>
            <a:pPr algn="ctr" indent="0" marL="0">
              <a:buNone/>
            </a:pPr>
            <a:r>
              <a:rPr lang="en-US" sz="1400" b="1" dirty="0">
                <a:solidFill>
                  <a:srgbClr val="2F8A7D"/>
                </a:solidFill>
                <a:latin typeface="Yu Gothic" pitchFamily="34" charset="0"/>
                <a:ea typeface="Yu Gothic" pitchFamily="34" charset="-122"/>
                <a:cs typeface="Yu Gothic" pitchFamily="34" charset="-120"/>
              </a:rPr>
              <a:t>↓</a:t>
            </a:r>
            <a:endParaRPr lang="en-US" sz="1400" dirty="0"/>
          </a:p>
        </p:txBody>
      </p:sp>
      <p:sp>
        <p:nvSpPr>
          <p:cNvPr id="11" name="Text 9"/>
          <p:cNvSpPr/>
          <p:nvPr/>
        </p:nvSpPr>
        <p:spPr>
          <a:xfrm>
            <a:off x="457200" y="1993392"/>
            <a:ext cx="2651760" cy="566928"/>
          </a:xfrm>
          <a:prstGeom prst="rect">
            <a:avLst/>
          </a:prstGeom>
          <a:noFill/>
          <a:ln/>
        </p:spPr>
        <p:txBody>
          <a:bodyPr wrap="square" lIns="0" tIns="0" rIns="0" bIns="0" rtlCol="0" anchor="ctr"/>
          <a:lstStyle/>
          <a:p>
            <a:pPr algn="ctr" indent="0" marL="0">
              <a:buNone/>
            </a:pPr>
            <a:r>
              <a:rPr lang="en-US" sz="2800" b="1" dirty="0">
                <a:solidFill>
                  <a:srgbClr val="2F5D8A"/>
                </a:solidFill>
                <a:latin typeface="Yu Gothic" pitchFamily="34" charset="0"/>
                <a:ea typeface="Yu Gothic" pitchFamily="34" charset="-122"/>
                <a:cs typeface="Yu Gothic" pitchFamily="34" charset="-120"/>
              </a:rPr>
              <a:t>約45分</a:t>
            </a:r>
            <a:endParaRPr lang="en-US" sz="2800" dirty="0"/>
          </a:p>
        </p:txBody>
      </p:sp>
      <p:sp>
        <p:nvSpPr>
          <p:cNvPr id="12" name="Text 10"/>
          <p:cNvSpPr/>
          <p:nvPr/>
        </p:nvSpPr>
        <p:spPr>
          <a:xfrm>
            <a:off x="457200" y="2788920"/>
            <a:ext cx="2651760" cy="384048"/>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短縮の理由は、1件ずつ正しい行を探して転記する時間を減らしたことです。</a:t>
            </a:r>
            <a:endParaRPr lang="en-US" sz="850" dirty="0"/>
          </a:p>
        </p:txBody>
      </p:sp>
      <p:sp>
        <p:nvSpPr>
          <p:cNvPr id="13" name="Shape 11"/>
          <p:cNvSpPr/>
          <p:nvPr/>
        </p:nvSpPr>
        <p:spPr>
          <a:xfrm>
            <a:off x="3383280" y="1051560"/>
            <a:ext cx="5303520" cy="896112"/>
          </a:xfrm>
          <a:prstGeom prst="roundRect">
            <a:avLst>
              <a:gd name="adj" fmla="val 6122"/>
            </a:avLst>
          </a:prstGeom>
          <a:solidFill>
            <a:srgbClr val="FBFCFD"/>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14" name="Text 12"/>
          <p:cNvSpPr/>
          <p:nvPr/>
        </p:nvSpPr>
        <p:spPr>
          <a:xfrm>
            <a:off x="3584448" y="1143000"/>
            <a:ext cx="1828800" cy="182880"/>
          </a:xfrm>
          <a:prstGeom prst="rect">
            <a:avLst/>
          </a:prstGeom>
          <a:noFill/>
          <a:ln/>
        </p:spPr>
        <p:txBody>
          <a:bodyPr wrap="square" lIns="0" tIns="0" rIns="0" bIns="0" rtlCol="0" anchor="ctr"/>
          <a:lstStyle/>
          <a:p>
            <a:pPr indent="0" marL="0">
              <a:buNone/>
            </a:pPr>
            <a:r>
              <a:rPr lang="en-US" sz="850" b="1" spc="200" kern="0" dirty="0">
                <a:solidFill>
                  <a:srgbClr val="5C6770"/>
                </a:solidFill>
                <a:latin typeface="Yu Gothic" pitchFamily="34" charset="0"/>
                <a:ea typeface="Yu Gothic" pitchFamily="34" charset="-122"/>
                <a:cs typeface="Yu Gothic" pitchFamily="34" charset="-120"/>
              </a:rPr>
              <a:t>BEFORE</a:t>
            </a:r>
            <a:endParaRPr lang="en-US" sz="850" dirty="0"/>
          </a:p>
        </p:txBody>
      </p:sp>
      <p:sp>
        <p:nvSpPr>
          <p:cNvPr id="15" name="Text 13"/>
          <p:cNvSpPr/>
          <p:nvPr/>
        </p:nvSpPr>
        <p:spPr>
          <a:xfrm>
            <a:off x="4039362" y="1389888"/>
            <a:ext cx="6766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人が探す</a:t>
            </a:r>
            <a:endParaRPr lang="en-US" sz="900" dirty="0"/>
          </a:p>
        </p:txBody>
      </p:sp>
      <p:sp>
        <p:nvSpPr>
          <p:cNvPr id="16" name="Text 14"/>
          <p:cNvSpPr/>
          <p:nvPr/>
        </p:nvSpPr>
        <p:spPr>
          <a:xfrm>
            <a:off x="4716018" y="1389888"/>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17" name="Text 15"/>
          <p:cNvSpPr/>
          <p:nvPr/>
        </p:nvSpPr>
        <p:spPr>
          <a:xfrm>
            <a:off x="4953762" y="1389888"/>
            <a:ext cx="9052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人が照合する</a:t>
            </a:r>
            <a:endParaRPr lang="en-US" sz="900" dirty="0"/>
          </a:p>
        </p:txBody>
      </p:sp>
      <p:sp>
        <p:nvSpPr>
          <p:cNvPr id="18" name="Text 16"/>
          <p:cNvSpPr/>
          <p:nvPr/>
        </p:nvSpPr>
        <p:spPr>
          <a:xfrm>
            <a:off x="5859018" y="1389888"/>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19" name="Text 17"/>
          <p:cNvSpPr/>
          <p:nvPr/>
        </p:nvSpPr>
        <p:spPr>
          <a:xfrm>
            <a:off x="6096762" y="1389888"/>
            <a:ext cx="9052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人が転記する</a:t>
            </a:r>
            <a:endParaRPr lang="en-US" sz="900" dirty="0"/>
          </a:p>
        </p:txBody>
      </p:sp>
      <p:sp>
        <p:nvSpPr>
          <p:cNvPr id="20" name="Text 18"/>
          <p:cNvSpPr/>
          <p:nvPr/>
        </p:nvSpPr>
        <p:spPr>
          <a:xfrm>
            <a:off x="7002018" y="1389888"/>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21" name="Text 19"/>
          <p:cNvSpPr/>
          <p:nvPr/>
        </p:nvSpPr>
        <p:spPr>
          <a:xfrm>
            <a:off x="7239762" y="1389888"/>
            <a:ext cx="7909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人が見直す</a:t>
            </a:r>
            <a:endParaRPr lang="en-US" sz="900" dirty="0"/>
          </a:p>
        </p:txBody>
      </p:sp>
      <p:sp>
        <p:nvSpPr>
          <p:cNvPr id="22" name="Shape 20"/>
          <p:cNvSpPr/>
          <p:nvPr/>
        </p:nvSpPr>
        <p:spPr>
          <a:xfrm>
            <a:off x="3383280" y="2075688"/>
            <a:ext cx="5303520" cy="896112"/>
          </a:xfrm>
          <a:prstGeom prst="roundRect">
            <a:avLst>
              <a:gd name="adj" fmla="val 6122"/>
            </a:avLst>
          </a:prstGeom>
          <a:solidFill>
            <a:srgbClr val="ECF5F3"/>
          </a:solidFill>
          <a:ln w="12700">
            <a:solidFill>
              <a:srgbClr val="CDE4DF"/>
            </a:solidFill>
            <a:prstDash val="solid"/>
          </a:ln>
          <a:effectLst>
            <a:outerShdw sx="100000" sy="100000" kx="0" ky="0" algn="bl" rotWithShape="0" blurRad="88900" dist="25400" dir="8100000">
              <a:srgbClr val="1F2933">
                <a:alpha val="10000"/>
              </a:srgbClr>
            </a:outerShdw>
          </a:effectLst>
        </p:spPr>
      </p:sp>
      <p:sp>
        <p:nvSpPr>
          <p:cNvPr id="23" name="Text 21"/>
          <p:cNvSpPr/>
          <p:nvPr/>
        </p:nvSpPr>
        <p:spPr>
          <a:xfrm>
            <a:off x="3584448" y="2167128"/>
            <a:ext cx="1828800" cy="182880"/>
          </a:xfrm>
          <a:prstGeom prst="rect">
            <a:avLst/>
          </a:prstGeom>
          <a:noFill/>
          <a:ln/>
        </p:spPr>
        <p:txBody>
          <a:bodyPr wrap="square" lIns="0" tIns="0" rIns="0" bIns="0" rtlCol="0" anchor="ctr"/>
          <a:lstStyle/>
          <a:p>
            <a:pPr indent="0" marL="0">
              <a:buNone/>
            </a:pPr>
            <a:r>
              <a:rPr lang="en-US" sz="850" b="1" spc="200" kern="0" dirty="0">
                <a:solidFill>
                  <a:srgbClr val="2F8A7D"/>
                </a:solidFill>
                <a:latin typeface="Yu Gothic" pitchFamily="34" charset="0"/>
                <a:ea typeface="Yu Gothic" pitchFamily="34" charset="-122"/>
                <a:cs typeface="Yu Gothic" pitchFamily="34" charset="-120"/>
              </a:rPr>
              <a:t>AFTER</a:t>
            </a:r>
            <a:endParaRPr lang="en-US" sz="850" dirty="0"/>
          </a:p>
        </p:txBody>
      </p:sp>
      <p:sp>
        <p:nvSpPr>
          <p:cNvPr id="24" name="Text 22"/>
          <p:cNvSpPr/>
          <p:nvPr/>
        </p:nvSpPr>
        <p:spPr>
          <a:xfrm>
            <a:off x="3707892" y="2414016"/>
            <a:ext cx="14767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ファイル名が情報を持つ</a:t>
            </a:r>
            <a:endParaRPr lang="en-US" sz="900" dirty="0"/>
          </a:p>
        </p:txBody>
      </p:sp>
      <p:sp>
        <p:nvSpPr>
          <p:cNvPr id="25" name="Text 23"/>
          <p:cNvSpPr/>
          <p:nvPr/>
        </p:nvSpPr>
        <p:spPr>
          <a:xfrm>
            <a:off x="5184648" y="2414016"/>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26" name="Text 24"/>
          <p:cNvSpPr/>
          <p:nvPr/>
        </p:nvSpPr>
        <p:spPr>
          <a:xfrm>
            <a:off x="5422392" y="2414016"/>
            <a:ext cx="145389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Excelが照合・転記する</a:t>
            </a:r>
            <a:endParaRPr lang="en-US" sz="900" dirty="0"/>
          </a:p>
        </p:txBody>
      </p:sp>
      <p:sp>
        <p:nvSpPr>
          <p:cNvPr id="27" name="Text 25"/>
          <p:cNvSpPr/>
          <p:nvPr/>
        </p:nvSpPr>
        <p:spPr>
          <a:xfrm>
            <a:off x="6876288" y="2414016"/>
            <a:ext cx="237744" cy="310896"/>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t>
            </a:r>
            <a:endParaRPr lang="en-US" sz="1100" dirty="0"/>
          </a:p>
        </p:txBody>
      </p:sp>
      <p:sp>
        <p:nvSpPr>
          <p:cNvPr id="28" name="Text 26"/>
          <p:cNvSpPr/>
          <p:nvPr/>
        </p:nvSpPr>
        <p:spPr>
          <a:xfrm>
            <a:off x="7114032" y="2414016"/>
            <a:ext cx="1248156" cy="310896"/>
          </a:xfrm>
          <a:prstGeom prst="roundRect">
            <a:avLst>
              <a:gd name="adj" fmla="val 14706"/>
            </a:avLst>
          </a:prstGeom>
          <a:solidFill>
            <a:srgbClr val="FFFFFF"/>
          </a:solidFill>
          <a:ln w="9525">
            <a:solidFill>
              <a:srgbClr val="E3E7EC"/>
            </a:solidFill>
          </a:ln>
        </p:spPr>
        <p:txBody>
          <a:bodyPr wrap="square" lIns="0" tIns="0" rIns="0" bIns="0" rtlCol="0" anchor="ctr"/>
          <a:lstStyle/>
          <a:p>
            <a:pPr algn="ctr" indent="0" marL="0">
              <a:buNone/>
            </a:pPr>
            <a:r>
              <a:rPr lang="en-US" sz="900" dirty="0">
                <a:solidFill>
                  <a:srgbClr val="1F2933"/>
                </a:solidFill>
                <a:latin typeface="Yu Gothic" pitchFamily="34" charset="0"/>
                <a:ea typeface="Yu Gothic" pitchFamily="34" charset="-122"/>
                <a:cs typeface="Yu Gothic" pitchFamily="34" charset="-120"/>
              </a:rPr>
              <a:t>人は結果を確認する</a:t>
            </a:r>
            <a:endParaRPr lang="en-US" sz="900" dirty="0"/>
          </a:p>
        </p:txBody>
      </p:sp>
      <p:sp>
        <p:nvSpPr>
          <p:cNvPr id="29" name="Shape 27"/>
          <p:cNvSpPr/>
          <p:nvPr/>
        </p:nvSpPr>
        <p:spPr>
          <a:xfrm>
            <a:off x="457200" y="3310128"/>
            <a:ext cx="2651760" cy="914400"/>
          </a:xfrm>
          <a:prstGeom prst="roundRect">
            <a:avLst>
              <a:gd name="adj" fmla="val 70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30" name="Text 28"/>
          <p:cNvSpPr/>
          <p:nvPr/>
        </p:nvSpPr>
        <p:spPr>
          <a:xfrm>
            <a:off x="621792" y="3429000"/>
            <a:ext cx="2322576"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注意力への依存</a:t>
            </a:r>
            <a:endParaRPr lang="en-US" sz="1050" dirty="0"/>
          </a:p>
        </p:txBody>
      </p:sp>
      <p:sp>
        <p:nvSpPr>
          <p:cNvPr id="31" name="Text 29"/>
          <p:cNvSpPr/>
          <p:nvPr/>
        </p:nvSpPr>
        <p:spPr>
          <a:xfrm>
            <a:off x="621792" y="3712464"/>
            <a:ext cx="2322576" cy="40233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常に使い続ける負担を低減しました。</a:t>
            </a:r>
            <a:endParaRPr lang="en-US" sz="850" dirty="0"/>
          </a:p>
        </p:txBody>
      </p:sp>
      <p:sp>
        <p:nvSpPr>
          <p:cNvPr id="32" name="Shape 30"/>
          <p:cNvSpPr/>
          <p:nvPr/>
        </p:nvSpPr>
        <p:spPr>
          <a:xfrm>
            <a:off x="3246120" y="3310128"/>
            <a:ext cx="2651760" cy="914400"/>
          </a:xfrm>
          <a:prstGeom prst="roundRect">
            <a:avLst>
              <a:gd name="adj" fmla="val 70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33" name="Text 31"/>
          <p:cNvSpPr/>
          <p:nvPr/>
        </p:nvSpPr>
        <p:spPr>
          <a:xfrm>
            <a:off x="3410712" y="3429000"/>
            <a:ext cx="2322576"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転記ミス・行ズレ</a:t>
            </a:r>
            <a:endParaRPr lang="en-US" sz="1050" dirty="0"/>
          </a:p>
        </p:txBody>
      </p:sp>
      <p:sp>
        <p:nvSpPr>
          <p:cNvPr id="34" name="Text 32"/>
          <p:cNvSpPr/>
          <p:nvPr/>
        </p:nvSpPr>
        <p:spPr>
          <a:xfrm>
            <a:off x="3410712" y="3712464"/>
            <a:ext cx="2322576" cy="40233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起きにくい方向へ作業構造を見直しました。</a:t>
            </a:r>
            <a:endParaRPr lang="en-US" sz="850" dirty="0"/>
          </a:p>
        </p:txBody>
      </p:sp>
      <p:sp>
        <p:nvSpPr>
          <p:cNvPr id="35" name="Shape 33"/>
          <p:cNvSpPr/>
          <p:nvPr/>
        </p:nvSpPr>
        <p:spPr>
          <a:xfrm>
            <a:off x="6035040" y="3310128"/>
            <a:ext cx="2651760" cy="914400"/>
          </a:xfrm>
          <a:prstGeom prst="roundRect">
            <a:avLst>
              <a:gd name="adj" fmla="val 70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36" name="Text 34"/>
          <p:cNvSpPr/>
          <p:nvPr/>
        </p:nvSpPr>
        <p:spPr>
          <a:xfrm>
            <a:off x="6199632" y="3429000"/>
            <a:ext cx="2322576"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手順のばらつき</a:t>
            </a:r>
            <a:endParaRPr lang="en-US" sz="1050" dirty="0"/>
          </a:p>
        </p:txBody>
      </p:sp>
      <p:sp>
        <p:nvSpPr>
          <p:cNvPr id="37" name="Text 35"/>
          <p:cNvSpPr/>
          <p:nvPr/>
        </p:nvSpPr>
        <p:spPr>
          <a:xfrm>
            <a:off x="6199632" y="3712464"/>
            <a:ext cx="2322576" cy="40233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担当者によらない標準フローへ整理しました。</a:t>
            </a:r>
            <a:endParaRPr lang="en-US" sz="850" dirty="0"/>
          </a:p>
        </p:txBody>
      </p:sp>
      <p:sp>
        <p:nvSpPr>
          <p:cNvPr id="38" name="Text 36"/>
          <p:cNvSpPr/>
          <p:nvPr/>
        </p:nvSpPr>
        <p:spPr>
          <a:xfrm>
            <a:off x="457200" y="4818888"/>
            <a:ext cx="6949440" cy="219456"/>
          </a:xfrm>
          <a:prstGeom prst="rect">
            <a:avLst/>
          </a:prstGeom>
          <a:noFill/>
          <a:ln/>
        </p:spPr>
        <p:txBody>
          <a:bodyPr wrap="square" lIns="0" tIns="0" rIns="0" bIns="0" rtlCol="0" anchor="ctr"/>
          <a:lstStyle/>
          <a:p>
            <a:pPr indent="0" marL="0">
              <a:buNone/>
            </a:pPr>
            <a:r>
              <a:rPr lang="en-US" sz="750" dirty="0">
                <a:solidFill>
                  <a:srgbClr val="8A949E"/>
                </a:solidFill>
                <a:latin typeface="Yu Gothic" pitchFamily="34" charset="0"/>
                <a:ea typeface="Yu Gothic" pitchFamily="34" charset="-122"/>
                <a:cs typeface="Yu Gothic" pitchFamily="34" charset="-120"/>
              </a:rPr>
              <a:t>検査記録作業のExcel自動化｜業務改善ケーススタディ</a:t>
            </a:r>
            <a:endParaRPr lang="en-US" sz="750" dirty="0"/>
          </a:p>
        </p:txBody>
      </p:sp>
      <p:sp>
        <p:nvSpPr>
          <p:cNvPr id="39" name="Text 37"/>
          <p:cNvSpPr/>
          <p:nvPr/>
        </p:nvSpPr>
        <p:spPr>
          <a:xfrm>
            <a:off x="7680960" y="4818888"/>
            <a:ext cx="1005840" cy="219456"/>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05 / 07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2F5D8A"/>
          </a:solidFill>
          <a:ln/>
        </p:spPr>
      </p:sp>
      <p:sp>
        <p:nvSpPr>
          <p:cNvPr id="3" name="Shape 1"/>
          <p:cNvSpPr/>
          <p:nvPr/>
        </p:nvSpPr>
        <p:spPr>
          <a:xfrm>
            <a:off x="457200" y="393192"/>
            <a:ext cx="182880" cy="21946"/>
          </a:xfrm>
          <a:prstGeom prst="rect">
            <a:avLst/>
          </a:prstGeom>
          <a:solidFill>
            <a:srgbClr val="2F5D8A"/>
          </a:solidFill>
          <a:ln/>
        </p:spPr>
      </p:sp>
      <p:sp>
        <p:nvSpPr>
          <p:cNvPr id="4" name="Text 2"/>
          <p:cNvSpPr/>
          <p:nvPr/>
        </p:nvSpPr>
        <p:spPr>
          <a:xfrm>
            <a:off x="694944" y="274320"/>
            <a:ext cx="5029200" cy="256032"/>
          </a:xfrm>
          <a:prstGeom prst="rect">
            <a:avLst/>
          </a:prstGeom>
          <a:noFill/>
          <a:ln/>
        </p:spPr>
        <p:txBody>
          <a:bodyPr wrap="square" lIns="0" tIns="0" rIns="0" bIns="0" rtlCol="0" anchor="ctr"/>
          <a:lstStyle/>
          <a:p>
            <a:pPr indent="0" marL="0">
              <a:buNone/>
            </a:pPr>
            <a:r>
              <a:rPr lang="en-US" sz="1050" b="1" spc="100" kern="0" dirty="0">
                <a:solidFill>
                  <a:srgbClr val="2F5D8A"/>
                </a:solidFill>
                <a:latin typeface="Yu Gothic" pitchFamily="34" charset="0"/>
                <a:ea typeface="Yu Gothic" pitchFamily="34" charset="-122"/>
                <a:cs typeface="Yu Gothic" pitchFamily="34" charset="-120"/>
              </a:rPr>
              <a:t>06｜この経験から伝わる強み</a:t>
            </a:r>
            <a:endParaRPr lang="en-US" sz="1050" dirty="0"/>
          </a:p>
        </p:txBody>
      </p:sp>
      <p:sp>
        <p:nvSpPr>
          <p:cNvPr id="5" name="Text 3"/>
          <p:cNvSpPr/>
          <p:nvPr/>
        </p:nvSpPr>
        <p:spPr>
          <a:xfrm>
            <a:off x="5486400" y="274320"/>
            <a:ext cx="3200400" cy="256032"/>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検査記録作業のExcel自動化</a:t>
            </a:r>
            <a:endParaRPr lang="en-US" sz="800" dirty="0"/>
          </a:p>
        </p:txBody>
      </p:sp>
      <p:sp>
        <p:nvSpPr>
          <p:cNvPr id="6" name="Text 4"/>
          <p:cNvSpPr/>
          <p:nvPr/>
        </p:nvSpPr>
        <p:spPr>
          <a:xfrm>
            <a:off x="457200" y="603504"/>
            <a:ext cx="8229600" cy="384048"/>
          </a:xfrm>
          <a:prstGeom prst="rect">
            <a:avLst/>
          </a:prstGeom>
          <a:noFill/>
          <a:ln/>
        </p:spPr>
        <p:txBody>
          <a:bodyPr wrap="square" lIns="0" tIns="0" rIns="0" bIns="0" rtlCol="0" anchor="ctr"/>
          <a:lstStyle/>
          <a:p>
            <a:pPr indent="0" marL="0">
              <a:buNone/>
            </a:pPr>
            <a:r>
              <a:rPr lang="en-US" sz="1700" b="1" dirty="0">
                <a:solidFill>
                  <a:srgbClr val="1F2933"/>
                </a:solidFill>
                <a:latin typeface="Yu Gothic" pitchFamily="34" charset="0"/>
                <a:ea typeface="Yu Gothic" pitchFamily="34" charset="-122"/>
                <a:cs typeface="Yu Gothic" pitchFamily="34" charset="-120"/>
              </a:rPr>
              <a:t>手作業の業務を、情報設計と自動化に分解できる</a:t>
            </a:r>
            <a:endParaRPr lang="en-US" sz="1700" dirty="0"/>
          </a:p>
        </p:txBody>
      </p:sp>
      <p:sp>
        <p:nvSpPr>
          <p:cNvPr id="7" name="Text 5"/>
          <p:cNvSpPr/>
          <p:nvPr/>
        </p:nvSpPr>
        <p:spPr>
          <a:xfrm>
            <a:off x="457200" y="1005840"/>
            <a:ext cx="8229600" cy="292608"/>
          </a:xfrm>
          <a:prstGeom prst="rect">
            <a:avLst/>
          </a:prstGeom>
          <a:noFill/>
          <a:ln/>
        </p:spPr>
        <p:txBody>
          <a:bodyPr wrap="square" lIns="0" tIns="0" rIns="0" bIns="0" rtlCol="0" anchor="ctr"/>
          <a:lstStyle/>
          <a:p>
            <a:pPr indent="0" marL="0">
              <a:buNone/>
            </a:pPr>
            <a:r>
              <a:rPr lang="en-US" sz="1050" dirty="0">
                <a:solidFill>
                  <a:srgbClr val="5C6770"/>
                </a:solidFill>
                <a:latin typeface="Yu Gothic" pitchFamily="34" charset="0"/>
                <a:ea typeface="Yu Gothic" pitchFamily="34" charset="-122"/>
                <a:cs typeface="Yu Gothic" pitchFamily="34" charset="-120"/>
              </a:rPr>
              <a:t>ExcelやVBAの操作そのものではなく、現場の手作業を観察して改善の入り口を見つけたことが、この実績の中心です。</a:t>
            </a:r>
            <a:endParaRPr lang="en-US" sz="1050" dirty="0"/>
          </a:p>
        </p:txBody>
      </p:sp>
      <p:sp>
        <p:nvSpPr>
          <p:cNvPr id="8" name="Shape 6"/>
          <p:cNvSpPr/>
          <p:nvPr/>
        </p:nvSpPr>
        <p:spPr>
          <a:xfrm>
            <a:off x="457200" y="1417320"/>
            <a:ext cx="1441094" cy="1097280"/>
          </a:xfrm>
          <a:prstGeom prst="roundRect">
            <a:avLst>
              <a:gd name="adj" fmla="val 50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9" name="Text 7"/>
          <p:cNvSpPr/>
          <p:nvPr/>
        </p:nvSpPr>
        <p:spPr>
          <a:xfrm>
            <a:off x="512064" y="1508760"/>
            <a:ext cx="1331366" cy="420624"/>
          </a:xfrm>
          <a:prstGeom prst="rect">
            <a:avLst/>
          </a:prstGeom>
          <a:noFill/>
          <a:ln/>
        </p:spPr>
        <p:txBody>
          <a:bodyPr wrap="square" lIns="0" tIns="0" rIns="0" bIns="0" rtlCol="0" anchor="ctr"/>
          <a:lstStyle/>
          <a:p>
            <a:pPr algn="ctr" indent="0" marL="0">
              <a:buNone/>
            </a:pPr>
            <a:r>
              <a:rPr lang="en-US" sz="950" b="1" dirty="0">
                <a:solidFill>
                  <a:srgbClr val="1F2933"/>
                </a:solidFill>
                <a:latin typeface="Yu Gothic" pitchFamily="34" charset="0"/>
                <a:ea typeface="Yu Gothic" pitchFamily="34" charset="-122"/>
                <a:cs typeface="Yu Gothic" pitchFamily="34" charset="-120"/>
              </a:rPr>
              <a:t>現場観察</a:t>
            </a:r>
            <a:endParaRPr lang="en-US" sz="950" dirty="0"/>
          </a:p>
        </p:txBody>
      </p:sp>
      <p:sp>
        <p:nvSpPr>
          <p:cNvPr id="10" name="Text 8"/>
          <p:cNvSpPr/>
          <p:nvPr/>
        </p:nvSpPr>
        <p:spPr>
          <a:xfrm>
            <a:off x="530352" y="1947672"/>
            <a:ext cx="1294790" cy="512064"/>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手作業の負担を見つける</a:t>
            </a:r>
            <a:endParaRPr lang="en-US" sz="750" dirty="0"/>
          </a:p>
        </p:txBody>
      </p:sp>
      <p:sp>
        <p:nvSpPr>
          <p:cNvPr id="11" name="Text 9"/>
          <p:cNvSpPr/>
          <p:nvPr/>
        </p:nvSpPr>
        <p:spPr>
          <a:xfrm>
            <a:off x="1898294" y="1828800"/>
            <a:ext cx="256032"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12" name="Shape 10"/>
          <p:cNvSpPr/>
          <p:nvPr/>
        </p:nvSpPr>
        <p:spPr>
          <a:xfrm>
            <a:off x="2154326" y="1417320"/>
            <a:ext cx="1441094" cy="1097280"/>
          </a:xfrm>
          <a:prstGeom prst="roundRect">
            <a:avLst>
              <a:gd name="adj" fmla="val 50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13" name="Text 11"/>
          <p:cNvSpPr/>
          <p:nvPr/>
        </p:nvSpPr>
        <p:spPr>
          <a:xfrm>
            <a:off x="2209190" y="1508760"/>
            <a:ext cx="1331366" cy="420624"/>
          </a:xfrm>
          <a:prstGeom prst="rect">
            <a:avLst/>
          </a:prstGeom>
          <a:noFill/>
          <a:ln/>
        </p:spPr>
        <p:txBody>
          <a:bodyPr wrap="square" lIns="0" tIns="0" rIns="0" bIns="0" rtlCol="0" anchor="ctr"/>
          <a:lstStyle/>
          <a:p>
            <a:pPr algn="ctr" indent="0" marL="0">
              <a:buNone/>
            </a:pPr>
            <a:r>
              <a:rPr lang="en-US" sz="950" b="1" dirty="0">
                <a:solidFill>
                  <a:srgbClr val="1F2933"/>
                </a:solidFill>
                <a:latin typeface="Yu Gothic" pitchFamily="34" charset="0"/>
                <a:ea typeface="Yu Gothic" pitchFamily="34" charset="-122"/>
                <a:cs typeface="Yu Gothic" pitchFamily="34" charset="-120"/>
              </a:rPr>
              <a:t>課題の構造化</a:t>
            </a:r>
            <a:endParaRPr lang="en-US" sz="950" dirty="0"/>
          </a:p>
        </p:txBody>
      </p:sp>
      <p:sp>
        <p:nvSpPr>
          <p:cNvPr id="14" name="Text 12"/>
          <p:cNvSpPr/>
          <p:nvPr/>
        </p:nvSpPr>
        <p:spPr>
          <a:xfrm>
            <a:off x="2227478" y="1947672"/>
            <a:ext cx="1294790" cy="512064"/>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ミスが入り込む箇所を探す</a:t>
            </a:r>
            <a:endParaRPr lang="en-US" sz="750" dirty="0"/>
          </a:p>
        </p:txBody>
      </p:sp>
      <p:sp>
        <p:nvSpPr>
          <p:cNvPr id="15" name="Text 13"/>
          <p:cNvSpPr/>
          <p:nvPr/>
        </p:nvSpPr>
        <p:spPr>
          <a:xfrm>
            <a:off x="3595421" y="1828800"/>
            <a:ext cx="256032"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16" name="Shape 14"/>
          <p:cNvSpPr/>
          <p:nvPr/>
        </p:nvSpPr>
        <p:spPr>
          <a:xfrm>
            <a:off x="3851453" y="1417320"/>
            <a:ext cx="1441094" cy="1097280"/>
          </a:xfrm>
          <a:prstGeom prst="roundRect">
            <a:avLst>
              <a:gd name="adj" fmla="val 50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17" name="Text 15"/>
          <p:cNvSpPr/>
          <p:nvPr/>
        </p:nvSpPr>
        <p:spPr>
          <a:xfrm>
            <a:off x="3906317" y="1508760"/>
            <a:ext cx="1331366" cy="420624"/>
          </a:xfrm>
          <a:prstGeom prst="rect">
            <a:avLst/>
          </a:prstGeom>
          <a:noFill/>
          <a:ln/>
        </p:spPr>
        <p:txBody>
          <a:bodyPr wrap="square" lIns="0" tIns="0" rIns="0" bIns="0" rtlCol="0" anchor="ctr"/>
          <a:lstStyle/>
          <a:p>
            <a:pPr algn="ctr" indent="0" marL="0">
              <a:buNone/>
            </a:pPr>
            <a:r>
              <a:rPr lang="en-US" sz="950" b="1" dirty="0">
                <a:solidFill>
                  <a:srgbClr val="1F2933"/>
                </a:solidFill>
                <a:latin typeface="Yu Gothic" pitchFamily="34" charset="0"/>
                <a:ea typeface="Yu Gothic" pitchFamily="34" charset="-122"/>
                <a:cs typeface="Yu Gothic" pitchFamily="34" charset="-120"/>
              </a:rPr>
              <a:t>情報設計</a:t>
            </a:r>
            <a:endParaRPr lang="en-US" sz="950" dirty="0"/>
          </a:p>
        </p:txBody>
      </p:sp>
      <p:sp>
        <p:nvSpPr>
          <p:cNvPr id="18" name="Text 16"/>
          <p:cNvSpPr/>
          <p:nvPr/>
        </p:nvSpPr>
        <p:spPr>
          <a:xfrm>
            <a:off x="3924605" y="1947672"/>
            <a:ext cx="1294790" cy="512064"/>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情報の流れをルール化する</a:t>
            </a:r>
            <a:endParaRPr lang="en-US" sz="750" dirty="0"/>
          </a:p>
        </p:txBody>
      </p:sp>
      <p:sp>
        <p:nvSpPr>
          <p:cNvPr id="19" name="Text 17"/>
          <p:cNvSpPr/>
          <p:nvPr/>
        </p:nvSpPr>
        <p:spPr>
          <a:xfrm>
            <a:off x="5292547" y="1828800"/>
            <a:ext cx="256032"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20" name="Shape 18"/>
          <p:cNvSpPr/>
          <p:nvPr/>
        </p:nvSpPr>
        <p:spPr>
          <a:xfrm>
            <a:off x="5548579" y="1417320"/>
            <a:ext cx="1441094" cy="1097280"/>
          </a:xfrm>
          <a:prstGeom prst="roundRect">
            <a:avLst>
              <a:gd name="adj" fmla="val 5000"/>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21" name="Text 19"/>
          <p:cNvSpPr/>
          <p:nvPr/>
        </p:nvSpPr>
        <p:spPr>
          <a:xfrm>
            <a:off x="5603443" y="1508760"/>
            <a:ext cx="1331366" cy="420624"/>
          </a:xfrm>
          <a:prstGeom prst="rect">
            <a:avLst/>
          </a:prstGeom>
          <a:noFill/>
          <a:ln/>
        </p:spPr>
        <p:txBody>
          <a:bodyPr wrap="square" lIns="0" tIns="0" rIns="0" bIns="0" rtlCol="0" anchor="ctr"/>
          <a:lstStyle/>
          <a:p>
            <a:pPr algn="ctr" indent="0" marL="0">
              <a:buNone/>
            </a:pPr>
            <a:r>
              <a:rPr lang="en-US" sz="950" b="1" dirty="0">
                <a:solidFill>
                  <a:srgbClr val="1F2933"/>
                </a:solidFill>
                <a:latin typeface="Yu Gothic" pitchFamily="34" charset="0"/>
                <a:ea typeface="Yu Gothic" pitchFamily="34" charset="-122"/>
                <a:cs typeface="Yu Gothic" pitchFamily="34" charset="-120"/>
              </a:rPr>
              <a:t>自動化</a:t>
            </a:r>
            <a:endParaRPr lang="en-US" sz="950" dirty="0"/>
          </a:p>
        </p:txBody>
      </p:sp>
      <p:sp>
        <p:nvSpPr>
          <p:cNvPr id="22" name="Text 20"/>
          <p:cNvSpPr/>
          <p:nvPr/>
        </p:nvSpPr>
        <p:spPr>
          <a:xfrm>
            <a:off x="5621731" y="1947672"/>
            <a:ext cx="1294790" cy="512064"/>
          </a:xfrm>
          <a:prstGeom prst="rect">
            <a:avLst/>
          </a:prstGeom>
          <a:noFill/>
          <a:ln/>
        </p:spPr>
        <p:txBody>
          <a:bodyPr wrap="square" lIns="0" tIns="0" rIns="0" bIns="0" rtlCol="0" anchor="t"/>
          <a:lstStyle/>
          <a:p>
            <a:pPr algn="ctr" indent="0" marL="0">
              <a:lnSpc>
                <a:spcPct val="120000"/>
              </a:lnSpc>
              <a:buNone/>
            </a:pPr>
            <a:r>
              <a:rPr lang="en-US" sz="750" dirty="0">
                <a:solidFill>
                  <a:srgbClr val="5C6770"/>
                </a:solidFill>
                <a:latin typeface="Yu Gothic" pitchFamily="34" charset="0"/>
                <a:ea typeface="Yu Gothic" pitchFamily="34" charset="-122"/>
                <a:cs typeface="Yu Gothic" pitchFamily="34" charset="-120"/>
              </a:rPr>
              <a:t>Excel関数・VBAで処理する</a:t>
            </a:r>
            <a:endParaRPr lang="en-US" sz="750" dirty="0"/>
          </a:p>
        </p:txBody>
      </p:sp>
      <p:sp>
        <p:nvSpPr>
          <p:cNvPr id="23" name="Text 21"/>
          <p:cNvSpPr/>
          <p:nvPr/>
        </p:nvSpPr>
        <p:spPr>
          <a:xfrm>
            <a:off x="6989674" y="1828800"/>
            <a:ext cx="256032"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Yu Gothic" pitchFamily="34" charset="0"/>
                <a:ea typeface="Yu Gothic" pitchFamily="34" charset="-122"/>
                <a:cs typeface="Yu Gothic" pitchFamily="34" charset="-120"/>
              </a:rPr>
              <a:t>→</a:t>
            </a:r>
            <a:endParaRPr lang="en-US" sz="1300" dirty="0"/>
          </a:p>
        </p:txBody>
      </p:sp>
      <p:sp>
        <p:nvSpPr>
          <p:cNvPr id="24" name="Shape 22"/>
          <p:cNvSpPr/>
          <p:nvPr/>
        </p:nvSpPr>
        <p:spPr>
          <a:xfrm>
            <a:off x="7245706" y="1417320"/>
            <a:ext cx="1441094" cy="1097280"/>
          </a:xfrm>
          <a:prstGeom prst="roundRect">
            <a:avLst>
              <a:gd name="adj" fmla="val 5000"/>
            </a:avLst>
          </a:prstGeom>
          <a:solidFill>
            <a:srgbClr val="2F5D8A"/>
          </a:solidFill>
          <a:ln w="12700">
            <a:solidFill>
              <a:srgbClr val="2F5D8A"/>
            </a:solidFill>
            <a:prstDash val="solid"/>
          </a:ln>
          <a:effectLst>
            <a:outerShdw sx="100000" sy="100000" kx="0" ky="0" algn="bl" rotWithShape="0" blurRad="88900" dist="25400" dir="8100000">
              <a:srgbClr val="1F2933">
                <a:alpha val="10000"/>
              </a:srgbClr>
            </a:outerShdw>
          </a:effectLst>
        </p:spPr>
      </p:sp>
      <p:sp>
        <p:nvSpPr>
          <p:cNvPr id="25" name="Text 23"/>
          <p:cNvSpPr/>
          <p:nvPr/>
        </p:nvSpPr>
        <p:spPr>
          <a:xfrm>
            <a:off x="7300570" y="1508760"/>
            <a:ext cx="133136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再現性のある業務フロー</a:t>
            </a:r>
            <a:endParaRPr lang="en-US" sz="950" dirty="0"/>
          </a:p>
        </p:txBody>
      </p:sp>
      <p:sp>
        <p:nvSpPr>
          <p:cNvPr id="26" name="Text 24"/>
          <p:cNvSpPr/>
          <p:nvPr/>
        </p:nvSpPr>
        <p:spPr>
          <a:xfrm>
            <a:off x="7318858" y="1947672"/>
            <a:ext cx="1294790" cy="512064"/>
          </a:xfrm>
          <a:prstGeom prst="rect">
            <a:avLst/>
          </a:prstGeom>
          <a:noFill/>
          <a:ln/>
        </p:spPr>
        <p:txBody>
          <a:bodyPr wrap="square" lIns="0" tIns="0" rIns="0" bIns="0" rtlCol="0" anchor="t"/>
          <a:lstStyle/>
          <a:p>
            <a:pPr algn="ctr" indent="0" marL="0">
              <a:lnSpc>
                <a:spcPct val="120000"/>
              </a:lnSpc>
              <a:buNone/>
            </a:pPr>
            <a:r>
              <a:rPr lang="en-US" sz="750" dirty="0">
                <a:solidFill>
                  <a:srgbClr val="D7E3EE"/>
                </a:solidFill>
                <a:latin typeface="Yu Gothic" pitchFamily="34" charset="0"/>
                <a:ea typeface="Yu Gothic" pitchFamily="34" charset="-122"/>
                <a:cs typeface="Yu Gothic" pitchFamily="34" charset="-120"/>
              </a:rPr>
              <a:t>誰でも同じ流れで進む</a:t>
            </a:r>
            <a:endParaRPr lang="en-US" sz="750" dirty="0"/>
          </a:p>
        </p:txBody>
      </p:sp>
      <p:sp>
        <p:nvSpPr>
          <p:cNvPr id="27" name="Shape 25"/>
          <p:cNvSpPr/>
          <p:nvPr/>
        </p:nvSpPr>
        <p:spPr>
          <a:xfrm>
            <a:off x="457200" y="2880360"/>
            <a:ext cx="4041648" cy="1097280"/>
          </a:xfrm>
          <a:prstGeom prst="roundRect">
            <a:avLst>
              <a:gd name="adj" fmla="val 5833"/>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28" name="Text 26"/>
          <p:cNvSpPr/>
          <p:nvPr/>
        </p:nvSpPr>
        <p:spPr>
          <a:xfrm>
            <a:off x="621792" y="2999232"/>
            <a:ext cx="3712464"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1｜現場観察 × 情報設計</a:t>
            </a:r>
            <a:endParaRPr lang="en-US" sz="1050" dirty="0"/>
          </a:p>
        </p:txBody>
      </p:sp>
      <p:sp>
        <p:nvSpPr>
          <p:cNvPr id="29" name="Text 27"/>
          <p:cNvSpPr/>
          <p:nvPr/>
        </p:nvSpPr>
        <p:spPr>
          <a:xfrm>
            <a:off x="621792" y="3282696"/>
            <a:ext cx="3712464" cy="58521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手作業のどこに負担とミスの余地があるかを見極め、ルールと自動処理に置き換えます。</a:t>
            </a:r>
            <a:endParaRPr lang="en-US" sz="850" dirty="0"/>
          </a:p>
        </p:txBody>
      </p:sp>
      <p:sp>
        <p:nvSpPr>
          <p:cNvPr id="30" name="Shape 28"/>
          <p:cNvSpPr/>
          <p:nvPr/>
        </p:nvSpPr>
        <p:spPr>
          <a:xfrm>
            <a:off x="4645152" y="2880360"/>
            <a:ext cx="4041648" cy="1097280"/>
          </a:xfrm>
          <a:prstGeom prst="roundRect">
            <a:avLst>
              <a:gd name="adj" fmla="val 5833"/>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31" name="Text 29"/>
          <p:cNvSpPr/>
          <p:nvPr/>
        </p:nvSpPr>
        <p:spPr>
          <a:xfrm>
            <a:off x="4809744" y="2999232"/>
            <a:ext cx="3712464" cy="256032"/>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2｜業務理解にもとづく切り分け</a:t>
            </a:r>
            <a:endParaRPr lang="en-US" sz="1050" dirty="0"/>
          </a:p>
        </p:txBody>
      </p:sp>
      <p:sp>
        <p:nvSpPr>
          <p:cNvPr id="32" name="Text 30"/>
          <p:cNvSpPr/>
          <p:nvPr/>
        </p:nvSpPr>
        <p:spPr>
          <a:xfrm>
            <a:off x="4809744" y="3282696"/>
            <a:ext cx="3712464" cy="585216"/>
          </a:xfrm>
          <a:prstGeom prst="rect">
            <a:avLst/>
          </a:prstGeom>
          <a:noFill/>
          <a:ln/>
        </p:spPr>
        <p:txBody>
          <a:bodyPr wrap="square" lIns="0" tIns="0" rIns="0" bIns="0" rtlCol="0" anchor="t"/>
          <a:lstStyle/>
          <a:p>
            <a:pPr indent="0" marL="0">
              <a:lnSpc>
                <a:spcPct val="125000"/>
              </a:lnSpc>
              <a:buNone/>
            </a:pPr>
            <a:r>
              <a:rPr lang="en-US" sz="850" dirty="0">
                <a:solidFill>
                  <a:srgbClr val="5C6770"/>
                </a:solidFill>
                <a:latin typeface="Yu Gothic" pitchFamily="34" charset="0"/>
                <a:ea typeface="Yu Gothic" pitchFamily="34" charset="-122"/>
                <a:cs typeface="Yu Gothic" pitchFamily="34" charset="-120"/>
              </a:rPr>
              <a:t>「人が判断すべきこと」と「仕組みで処理できること」を分け、人の作業を確認に集中させます。</a:t>
            </a:r>
            <a:endParaRPr lang="en-US" sz="850" dirty="0"/>
          </a:p>
        </p:txBody>
      </p:sp>
      <p:sp>
        <p:nvSpPr>
          <p:cNvPr id="33" name="Text 31"/>
          <p:cNvSpPr/>
          <p:nvPr/>
        </p:nvSpPr>
        <p:spPr>
          <a:xfrm>
            <a:off x="457200" y="4818888"/>
            <a:ext cx="6949440" cy="219456"/>
          </a:xfrm>
          <a:prstGeom prst="rect">
            <a:avLst/>
          </a:prstGeom>
          <a:noFill/>
          <a:ln/>
        </p:spPr>
        <p:txBody>
          <a:bodyPr wrap="square" lIns="0" tIns="0" rIns="0" bIns="0" rtlCol="0" anchor="ctr"/>
          <a:lstStyle/>
          <a:p>
            <a:pPr indent="0" marL="0">
              <a:buNone/>
            </a:pPr>
            <a:r>
              <a:rPr lang="en-US" sz="750" dirty="0">
                <a:solidFill>
                  <a:srgbClr val="8A949E"/>
                </a:solidFill>
                <a:latin typeface="Yu Gothic" pitchFamily="34" charset="0"/>
                <a:ea typeface="Yu Gothic" pitchFamily="34" charset="-122"/>
                <a:cs typeface="Yu Gothic" pitchFamily="34" charset="-120"/>
              </a:rPr>
              <a:t>検査記録作業のExcel自動化｜業務改善ケーススタディ</a:t>
            </a:r>
            <a:endParaRPr lang="en-US" sz="750" dirty="0"/>
          </a:p>
        </p:txBody>
      </p:sp>
      <p:sp>
        <p:nvSpPr>
          <p:cNvPr id="34" name="Text 32"/>
          <p:cNvSpPr/>
          <p:nvPr/>
        </p:nvSpPr>
        <p:spPr>
          <a:xfrm>
            <a:off x="7680960" y="4818888"/>
            <a:ext cx="1005840" cy="219456"/>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06 / 07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2F5D8A"/>
          </a:solidFill>
          <a:ln/>
        </p:spPr>
      </p:sp>
      <p:sp>
        <p:nvSpPr>
          <p:cNvPr id="3" name="Shape 1"/>
          <p:cNvSpPr/>
          <p:nvPr/>
        </p:nvSpPr>
        <p:spPr>
          <a:xfrm>
            <a:off x="457200" y="393192"/>
            <a:ext cx="182880" cy="21946"/>
          </a:xfrm>
          <a:prstGeom prst="rect">
            <a:avLst/>
          </a:prstGeom>
          <a:solidFill>
            <a:srgbClr val="2F5D8A"/>
          </a:solidFill>
          <a:ln/>
        </p:spPr>
      </p:sp>
      <p:sp>
        <p:nvSpPr>
          <p:cNvPr id="4" name="Text 2"/>
          <p:cNvSpPr/>
          <p:nvPr/>
        </p:nvSpPr>
        <p:spPr>
          <a:xfrm>
            <a:off x="694944" y="274320"/>
            <a:ext cx="5029200" cy="256032"/>
          </a:xfrm>
          <a:prstGeom prst="rect">
            <a:avLst/>
          </a:prstGeom>
          <a:noFill/>
          <a:ln/>
        </p:spPr>
        <p:txBody>
          <a:bodyPr wrap="square" lIns="0" tIns="0" rIns="0" bIns="0" rtlCol="0" anchor="ctr"/>
          <a:lstStyle/>
          <a:p>
            <a:pPr indent="0" marL="0">
              <a:buNone/>
            </a:pPr>
            <a:r>
              <a:rPr lang="en-US" sz="1050" b="1" spc="100" kern="0" dirty="0">
                <a:solidFill>
                  <a:srgbClr val="2F5D8A"/>
                </a:solidFill>
                <a:latin typeface="Yu Gothic" pitchFamily="34" charset="0"/>
                <a:ea typeface="Yu Gothic" pitchFamily="34" charset="-122"/>
                <a:cs typeface="Yu Gothic" pitchFamily="34" charset="-120"/>
              </a:rPr>
              <a:t>07｜GitHub・README</a:t>
            </a:r>
            <a:endParaRPr lang="en-US" sz="1050" dirty="0"/>
          </a:p>
        </p:txBody>
      </p:sp>
      <p:sp>
        <p:nvSpPr>
          <p:cNvPr id="5" name="Text 3"/>
          <p:cNvSpPr/>
          <p:nvPr/>
        </p:nvSpPr>
        <p:spPr>
          <a:xfrm>
            <a:off x="5486400" y="274320"/>
            <a:ext cx="3200400" cy="256032"/>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検査記録作業のExcel自動化</a:t>
            </a:r>
            <a:endParaRPr lang="en-US" sz="800" dirty="0"/>
          </a:p>
        </p:txBody>
      </p:sp>
      <p:sp>
        <p:nvSpPr>
          <p:cNvPr id="6" name="Text 4"/>
          <p:cNvSpPr/>
          <p:nvPr/>
        </p:nvSpPr>
        <p:spPr>
          <a:xfrm>
            <a:off x="457200" y="603504"/>
            <a:ext cx="8229600" cy="384048"/>
          </a:xfrm>
          <a:prstGeom prst="rect">
            <a:avLst/>
          </a:prstGeom>
          <a:noFill/>
          <a:ln/>
        </p:spPr>
        <p:txBody>
          <a:bodyPr wrap="square" lIns="0" tIns="0" rIns="0" bIns="0" rtlCol="0" anchor="ctr"/>
          <a:lstStyle/>
          <a:p>
            <a:pPr indent="0" marL="0">
              <a:buNone/>
            </a:pPr>
            <a:r>
              <a:rPr lang="en-US" sz="1700" b="1" dirty="0">
                <a:solidFill>
                  <a:srgbClr val="1F2933"/>
                </a:solidFill>
                <a:latin typeface="Yu Gothic" pitchFamily="34" charset="0"/>
                <a:ea typeface="Yu Gothic" pitchFamily="34" charset="-122"/>
                <a:cs typeface="Yu Gothic" pitchFamily="34" charset="-120"/>
              </a:rPr>
              <a:t>実装の詳細はGitHubで確認できます</a:t>
            </a:r>
            <a:endParaRPr lang="en-US" sz="1700" dirty="0"/>
          </a:p>
        </p:txBody>
      </p:sp>
      <p:sp>
        <p:nvSpPr>
          <p:cNvPr id="7" name="Text 5"/>
          <p:cNvSpPr/>
          <p:nvPr/>
        </p:nvSpPr>
        <p:spPr>
          <a:xfrm>
            <a:off x="457200" y="1024128"/>
            <a:ext cx="4160520" cy="566928"/>
          </a:xfrm>
          <a:prstGeom prst="rect">
            <a:avLst/>
          </a:prstGeom>
          <a:noFill/>
          <a:ln/>
        </p:spPr>
        <p:txBody>
          <a:bodyPr wrap="square" lIns="0" tIns="0" rIns="0" bIns="0" rtlCol="0" anchor="t"/>
          <a:lstStyle/>
          <a:p>
            <a:pPr indent="0" marL="0">
              <a:lnSpc>
                <a:spcPct val="135000"/>
              </a:lnSpc>
              <a:buNone/>
            </a:pPr>
            <a:r>
              <a:rPr lang="en-US" sz="1050" dirty="0">
                <a:solidFill>
                  <a:srgbClr val="5C6770"/>
                </a:solidFill>
                <a:latin typeface="Yu Gothic" pitchFamily="34" charset="0"/>
                <a:ea typeface="Yu Gothic" pitchFamily="34" charset="-122"/>
                <a:cs typeface="Yu Gothic" pitchFamily="34" charset="-120"/>
              </a:rPr>
              <a:t>この資料では、業務背景と改善成果を中心に説明しています。実装の詳細はGitHub READMEに分けて整理しています。</a:t>
            </a:r>
            <a:endParaRPr lang="en-US" sz="1050" dirty="0"/>
          </a:p>
        </p:txBody>
      </p:sp>
      <p:sp>
        <p:nvSpPr>
          <p:cNvPr id="8" name="Text 6"/>
          <p:cNvSpPr/>
          <p:nvPr/>
        </p:nvSpPr>
        <p:spPr>
          <a:xfrm>
            <a:off x="457200" y="1783080"/>
            <a:ext cx="3931920" cy="237744"/>
          </a:xfrm>
          <a:prstGeom prst="rect">
            <a:avLst/>
          </a:prstGeom>
          <a:noFill/>
          <a:ln/>
        </p:spPr>
        <p:txBody>
          <a:bodyPr wrap="square" lIns="0" tIns="0" rIns="0" bIns="0" rtlCol="0" anchor="ctr"/>
          <a:lstStyle/>
          <a:p>
            <a:pPr indent="0" marL="0">
              <a:buNone/>
            </a:pPr>
            <a:r>
              <a:rPr lang="en-US" sz="1000" b="1" dirty="0">
                <a:solidFill>
                  <a:srgbClr val="2F5D8A"/>
                </a:solidFill>
                <a:latin typeface="Yu Gothic" pitchFamily="34" charset="0"/>
                <a:ea typeface="Yu Gothic" pitchFamily="34" charset="-122"/>
                <a:cs typeface="Yu Gothic" pitchFamily="34" charset="-120"/>
              </a:rPr>
              <a:t>READMEで確認できること</a:t>
            </a:r>
            <a:endParaRPr lang="en-US" sz="1000" dirty="0"/>
          </a:p>
        </p:txBody>
      </p:sp>
      <p:sp>
        <p:nvSpPr>
          <p:cNvPr id="9" name="Text 7"/>
          <p:cNvSpPr/>
          <p:nvPr/>
        </p:nvSpPr>
        <p:spPr>
          <a:xfrm>
            <a:off x="493776" y="2084832"/>
            <a:ext cx="219456" cy="274320"/>
          </a:xfrm>
          <a:prstGeom prst="rect">
            <a:avLst/>
          </a:prstGeom>
          <a:noFill/>
          <a:ln/>
        </p:spPr>
        <p:txBody>
          <a:bodyPr wrap="square" lIns="0" tIns="0" rIns="0" bIns="0" rtlCol="0" anchor="ctr"/>
          <a:lstStyle/>
          <a:p>
            <a:pPr indent="0" marL="0">
              <a:buNone/>
            </a:pPr>
            <a:r>
              <a:rPr lang="en-US" sz="1100" b="1" dirty="0">
                <a:solidFill>
                  <a:srgbClr val="2F8A7D"/>
                </a:solidFill>
                <a:latin typeface="Yu Gothic" pitchFamily="34" charset="0"/>
                <a:ea typeface="Yu Gothic" pitchFamily="34" charset="-122"/>
                <a:cs typeface="Yu Gothic" pitchFamily="34" charset="-120"/>
              </a:rPr>
              <a:t>✓</a:t>
            </a:r>
            <a:endParaRPr lang="en-US" sz="1100" dirty="0"/>
          </a:p>
        </p:txBody>
      </p:sp>
      <p:sp>
        <p:nvSpPr>
          <p:cNvPr id="10" name="Text 8"/>
          <p:cNvSpPr/>
          <p:nvPr/>
        </p:nvSpPr>
        <p:spPr>
          <a:xfrm>
            <a:off x="749808" y="2084832"/>
            <a:ext cx="3566160" cy="274320"/>
          </a:xfrm>
          <a:prstGeom prst="rect">
            <a:avLst/>
          </a:prstGeom>
          <a:noFill/>
          <a:ln/>
        </p:spPr>
        <p:txBody>
          <a:bodyPr wrap="square" lIns="0" tIns="0" rIns="0" bIns="0" rtlCol="0" anchor="ctr"/>
          <a:lstStyle/>
          <a:p>
            <a:pPr indent="0" marL="0">
              <a:buNone/>
            </a:pPr>
            <a:r>
              <a:rPr lang="en-US" sz="1000" dirty="0">
                <a:solidFill>
                  <a:srgbClr val="1F2933"/>
                </a:solidFill>
                <a:latin typeface="Yu Gothic" pitchFamily="34" charset="0"/>
                <a:ea typeface="Yu Gothic" pitchFamily="34" charset="-122"/>
                <a:cs typeface="Yu Gothic" pitchFamily="34" charset="-120"/>
              </a:rPr>
              <a:t>改善前後の作業フロー</a:t>
            </a:r>
            <a:endParaRPr lang="en-US" sz="1000" dirty="0"/>
          </a:p>
        </p:txBody>
      </p:sp>
      <p:sp>
        <p:nvSpPr>
          <p:cNvPr id="11" name="Shape 9"/>
          <p:cNvSpPr/>
          <p:nvPr/>
        </p:nvSpPr>
        <p:spPr>
          <a:xfrm>
            <a:off x="493776" y="2368296"/>
            <a:ext cx="3657600" cy="0"/>
          </a:xfrm>
          <a:prstGeom prst="line">
            <a:avLst/>
          </a:prstGeom>
          <a:noFill/>
          <a:ln w="9525">
            <a:solidFill>
              <a:srgbClr val="E3E7EC"/>
            </a:solidFill>
            <a:prstDash val="dash"/>
          </a:ln>
        </p:spPr>
      </p:sp>
      <p:sp>
        <p:nvSpPr>
          <p:cNvPr id="12" name="Text 10"/>
          <p:cNvSpPr/>
          <p:nvPr/>
        </p:nvSpPr>
        <p:spPr>
          <a:xfrm>
            <a:off x="493776" y="2414016"/>
            <a:ext cx="219456" cy="274320"/>
          </a:xfrm>
          <a:prstGeom prst="rect">
            <a:avLst/>
          </a:prstGeom>
          <a:noFill/>
          <a:ln/>
        </p:spPr>
        <p:txBody>
          <a:bodyPr wrap="square" lIns="0" tIns="0" rIns="0" bIns="0" rtlCol="0" anchor="ctr"/>
          <a:lstStyle/>
          <a:p>
            <a:pPr indent="0" marL="0">
              <a:buNone/>
            </a:pPr>
            <a:r>
              <a:rPr lang="en-US" sz="1100" b="1" dirty="0">
                <a:solidFill>
                  <a:srgbClr val="2F8A7D"/>
                </a:solidFill>
                <a:latin typeface="Yu Gothic" pitchFamily="34" charset="0"/>
                <a:ea typeface="Yu Gothic" pitchFamily="34" charset="-122"/>
                <a:cs typeface="Yu Gothic" pitchFamily="34" charset="-120"/>
              </a:rPr>
              <a:t>✓</a:t>
            </a:r>
            <a:endParaRPr lang="en-US" sz="1100" dirty="0"/>
          </a:p>
        </p:txBody>
      </p:sp>
      <p:sp>
        <p:nvSpPr>
          <p:cNvPr id="13" name="Text 11"/>
          <p:cNvSpPr/>
          <p:nvPr/>
        </p:nvSpPr>
        <p:spPr>
          <a:xfrm>
            <a:off x="749808" y="2414016"/>
            <a:ext cx="3566160" cy="274320"/>
          </a:xfrm>
          <a:prstGeom prst="rect">
            <a:avLst/>
          </a:prstGeom>
          <a:noFill/>
          <a:ln/>
        </p:spPr>
        <p:txBody>
          <a:bodyPr wrap="square" lIns="0" tIns="0" rIns="0" bIns="0" rtlCol="0" anchor="ctr"/>
          <a:lstStyle/>
          <a:p>
            <a:pPr indent="0" marL="0">
              <a:buNone/>
            </a:pPr>
            <a:r>
              <a:rPr lang="en-US" sz="1000" dirty="0">
                <a:solidFill>
                  <a:srgbClr val="1F2933"/>
                </a:solidFill>
                <a:latin typeface="Yu Gothic" pitchFamily="34" charset="0"/>
                <a:ea typeface="Yu Gothic" pitchFamily="34" charset="-122"/>
                <a:cs typeface="Yu Gothic" pitchFamily="34" charset="-120"/>
              </a:rPr>
              <a:t>画像ファイル名の命名規則</a:t>
            </a:r>
            <a:endParaRPr lang="en-US" sz="1000" dirty="0"/>
          </a:p>
        </p:txBody>
      </p:sp>
      <p:sp>
        <p:nvSpPr>
          <p:cNvPr id="14" name="Shape 12"/>
          <p:cNvSpPr/>
          <p:nvPr/>
        </p:nvSpPr>
        <p:spPr>
          <a:xfrm>
            <a:off x="493776" y="2697480"/>
            <a:ext cx="3657600" cy="0"/>
          </a:xfrm>
          <a:prstGeom prst="line">
            <a:avLst/>
          </a:prstGeom>
          <a:noFill/>
          <a:ln w="9525">
            <a:solidFill>
              <a:srgbClr val="E3E7EC"/>
            </a:solidFill>
            <a:prstDash val="dash"/>
          </a:ln>
        </p:spPr>
      </p:sp>
      <p:sp>
        <p:nvSpPr>
          <p:cNvPr id="15" name="Text 13"/>
          <p:cNvSpPr/>
          <p:nvPr/>
        </p:nvSpPr>
        <p:spPr>
          <a:xfrm>
            <a:off x="493776" y="2743200"/>
            <a:ext cx="219456" cy="274320"/>
          </a:xfrm>
          <a:prstGeom prst="rect">
            <a:avLst/>
          </a:prstGeom>
          <a:noFill/>
          <a:ln/>
        </p:spPr>
        <p:txBody>
          <a:bodyPr wrap="square" lIns="0" tIns="0" rIns="0" bIns="0" rtlCol="0" anchor="ctr"/>
          <a:lstStyle/>
          <a:p>
            <a:pPr indent="0" marL="0">
              <a:buNone/>
            </a:pPr>
            <a:r>
              <a:rPr lang="en-US" sz="1100" b="1" dirty="0">
                <a:solidFill>
                  <a:srgbClr val="2F8A7D"/>
                </a:solidFill>
                <a:latin typeface="Yu Gothic" pitchFamily="34" charset="0"/>
                <a:ea typeface="Yu Gothic" pitchFamily="34" charset="-122"/>
                <a:cs typeface="Yu Gothic" pitchFamily="34" charset="-120"/>
              </a:rPr>
              <a:t>✓</a:t>
            </a:r>
            <a:endParaRPr lang="en-US" sz="1100" dirty="0"/>
          </a:p>
        </p:txBody>
      </p:sp>
      <p:sp>
        <p:nvSpPr>
          <p:cNvPr id="16" name="Text 14"/>
          <p:cNvSpPr/>
          <p:nvPr/>
        </p:nvSpPr>
        <p:spPr>
          <a:xfrm>
            <a:off x="749808" y="2743200"/>
            <a:ext cx="3566160" cy="274320"/>
          </a:xfrm>
          <a:prstGeom prst="rect">
            <a:avLst/>
          </a:prstGeom>
          <a:noFill/>
          <a:ln/>
        </p:spPr>
        <p:txBody>
          <a:bodyPr wrap="square" lIns="0" tIns="0" rIns="0" bIns="0" rtlCol="0" anchor="ctr"/>
          <a:lstStyle/>
          <a:p>
            <a:pPr indent="0" marL="0">
              <a:buNone/>
            </a:pPr>
            <a:r>
              <a:rPr lang="en-US" sz="1000" dirty="0">
                <a:solidFill>
                  <a:srgbClr val="1F2933"/>
                </a:solidFill>
                <a:latin typeface="Yu Gothic" pitchFamily="34" charset="0"/>
                <a:ea typeface="Yu Gothic" pitchFamily="34" charset="-122"/>
                <a:cs typeface="Yu Gothic" pitchFamily="34" charset="-120"/>
              </a:rPr>
              <a:t>Excel関数とVBAによる自動転記の仕組み</a:t>
            </a:r>
            <a:endParaRPr lang="en-US" sz="1000" dirty="0"/>
          </a:p>
        </p:txBody>
      </p:sp>
      <p:sp>
        <p:nvSpPr>
          <p:cNvPr id="17" name="Shape 15"/>
          <p:cNvSpPr/>
          <p:nvPr/>
        </p:nvSpPr>
        <p:spPr>
          <a:xfrm>
            <a:off x="493776" y="3026664"/>
            <a:ext cx="3657600" cy="0"/>
          </a:xfrm>
          <a:prstGeom prst="line">
            <a:avLst/>
          </a:prstGeom>
          <a:noFill/>
          <a:ln w="9525">
            <a:solidFill>
              <a:srgbClr val="E3E7EC"/>
            </a:solidFill>
            <a:prstDash val="dash"/>
          </a:ln>
        </p:spPr>
      </p:sp>
      <p:sp>
        <p:nvSpPr>
          <p:cNvPr id="18" name="Text 16"/>
          <p:cNvSpPr/>
          <p:nvPr/>
        </p:nvSpPr>
        <p:spPr>
          <a:xfrm>
            <a:off x="457200" y="3401568"/>
            <a:ext cx="2377440" cy="457200"/>
          </a:xfrm>
          <a:prstGeom prst="roundRect">
            <a:avLst>
              <a:gd name="adj" fmla="val 16000"/>
            </a:avLst>
          </a:prstGeom>
          <a:solidFill>
            <a:srgbClr val="2F5D8A"/>
          </a:solidFill>
          <a:ln w="12700">
            <a:solidFill>
              <a:srgbClr val="2F5D8A"/>
            </a:solidFill>
          </a:ln>
          <a:effectLst>
            <a:outerShdw sx="100000" sy="100000" kx="0" ky="0" algn="bl" rotWithShape="0" blurRad="88900" dist="25400" dir="8100000">
              <a:srgbClr val="1F2933">
                <a:alpha val="10000"/>
              </a:srgbClr>
            </a:outerShdw>
          </a:effectLst>
        </p:spPr>
        <p:txBody>
          <a:bodyPr wrap="square" lIns="0" tIns="0" rIns="0" bIns="0" rtlCol="0" anchor="ctr"/>
          <a:lstStyle/>
          <a:p>
            <a:pPr algn="ctr" indent="0" marL="0">
              <a:buNone/>
            </a:pPr>
            <a:r>
              <a:rPr lang="en-US" sz="1100" b="1" u="sng" dirty="0">
                <a:solidFill>
                  <a:srgbClr val="FFFFFF"/>
                </a:solidFill>
                <a:latin typeface="Yu Gothic" pitchFamily="34" charset="0"/>
                <a:ea typeface="Yu Gothic" pitchFamily="34" charset="-122"/>
                <a:cs typeface="Yu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GitHubでREADMEを見る</a:t>
            </a:r>
            <a:endParaRPr lang="en-US" sz="1100" dirty="0"/>
          </a:p>
        </p:txBody>
      </p:sp>
      <p:sp>
        <p:nvSpPr>
          <p:cNvPr id="19" name="Text 17"/>
          <p:cNvSpPr/>
          <p:nvPr/>
        </p:nvSpPr>
        <p:spPr>
          <a:xfrm>
            <a:off x="457200" y="3931920"/>
            <a:ext cx="3200400" cy="219456"/>
          </a:xfrm>
          <a:prstGeom prst="rect">
            <a:avLst/>
          </a:prstGeom>
          <a:noFill/>
          <a:ln/>
        </p:spPr>
        <p:txBody>
          <a:bodyPr wrap="square" lIns="0" tIns="0" rIns="0" bIns="0" rtlCol="0" anchor="ctr"/>
          <a:lstStyle/>
          <a:p>
            <a:pPr indent="0" marL="0">
              <a:buNone/>
            </a:pPr>
            <a:r>
              <a:rPr lang="en-US" sz="850" dirty="0">
                <a:solidFill>
                  <a:srgbClr val="8A949E"/>
                </a:solidFill>
                <a:latin typeface="Yu Gothic" pitchFamily="34" charset="0"/>
                <a:ea typeface="Yu Gothic" pitchFamily="34" charset="-122"/>
                <a:cs typeface="Yu Gothic" pitchFamily="34" charset="-120"/>
              </a:rPr>
              <a:t>github.com/Tomica-git/portfolio</a:t>
            </a:r>
            <a:endParaRPr lang="en-US" sz="850" dirty="0"/>
          </a:p>
        </p:txBody>
      </p:sp>
      <p:sp>
        <p:nvSpPr>
          <p:cNvPr id="20" name="Shape 18"/>
          <p:cNvSpPr/>
          <p:nvPr/>
        </p:nvSpPr>
        <p:spPr>
          <a:xfrm>
            <a:off x="4892040" y="1024128"/>
            <a:ext cx="2880360" cy="2514600"/>
          </a:xfrm>
          <a:prstGeom prst="rect">
            <a:avLst/>
          </a:prstGeom>
          <a:solidFill>
            <a:srgbClr val="FFFFFF"/>
          </a:solidFill>
          <a:ln w="12700">
            <a:solidFill>
              <a:srgbClr val="E3E7EC"/>
            </a:solidFill>
            <a:prstDash val="solid"/>
          </a:ln>
          <a:effectLst>
            <a:outerShdw sx="100000" sy="100000" kx="0" ky="0" algn="bl" rotWithShape="0" blurRad="88900" dist="25400" dir="8100000">
              <a:srgbClr val="1F2933">
                <a:alpha val="10000"/>
              </a:srgbClr>
            </a:outerShdw>
          </a:effectLst>
        </p:spPr>
      </p:sp>
      <p:sp>
        <p:nvSpPr>
          <p:cNvPr id="21" name="Shape 19"/>
          <p:cNvSpPr/>
          <p:nvPr/>
        </p:nvSpPr>
        <p:spPr>
          <a:xfrm>
            <a:off x="4892040" y="1024128"/>
            <a:ext cx="2880360" cy="310896"/>
          </a:xfrm>
          <a:prstGeom prst="rect">
            <a:avLst/>
          </a:prstGeom>
          <a:solidFill>
            <a:srgbClr val="EEF1F4"/>
          </a:solidFill>
          <a:ln w="9525">
            <a:solidFill>
              <a:srgbClr val="E3E7EC"/>
            </a:solidFill>
            <a:prstDash val="solid"/>
          </a:ln>
        </p:spPr>
      </p:sp>
      <p:sp>
        <p:nvSpPr>
          <p:cNvPr id="22" name="Shape 20"/>
          <p:cNvSpPr/>
          <p:nvPr/>
        </p:nvSpPr>
        <p:spPr>
          <a:xfrm>
            <a:off x="4983480" y="1147572"/>
            <a:ext cx="64008" cy="64008"/>
          </a:xfrm>
          <a:prstGeom prst="ellipse">
            <a:avLst/>
          </a:prstGeom>
          <a:solidFill>
            <a:srgbClr val="D6DDE3"/>
          </a:solidFill>
          <a:ln/>
        </p:spPr>
      </p:sp>
      <p:sp>
        <p:nvSpPr>
          <p:cNvPr id="23" name="Shape 21"/>
          <p:cNvSpPr/>
          <p:nvPr/>
        </p:nvSpPr>
        <p:spPr>
          <a:xfrm>
            <a:off x="5084064" y="1147572"/>
            <a:ext cx="64008" cy="64008"/>
          </a:xfrm>
          <a:prstGeom prst="ellipse">
            <a:avLst/>
          </a:prstGeom>
          <a:solidFill>
            <a:srgbClr val="D6DDE3"/>
          </a:solidFill>
          <a:ln/>
        </p:spPr>
      </p:sp>
      <p:sp>
        <p:nvSpPr>
          <p:cNvPr id="24" name="Shape 22"/>
          <p:cNvSpPr/>
          <p:nvPr/>
        </p:nvSpPr>
        <p:spPr>
          <a:xfrm>
            <a:off x="5184648" y="1147572"/>
            <a:ext cx="64008" cy="64008"/>
          </a:xfrm>
          <a:prstGeom prst="ellipse">
            <a:avLst/>
          </a:prstGeom>
          <a:solidFill>
            <a:srgbClr val="D6DDE3"/>
          </a:solidFill>
          <a:ln/>
        </p:spPr>
      </p:sp>
      <p:sp>
        <p:nvSpPr>
          <p:cNvPr id="25" name="Text 23"/>
          <p:cNvSpPr/>
          <p:nvPr/>
        </p:nvSpPr>
        <p:spPr>
          <a:xfrm>
            <a:off x="5330952" y="1088136"/>
            <a:ext cx="2331720" cy="182880"/>
          </a:xfrm>
          <a:prstGeom prst="roundRect">
            <a:avLst>
              <a:gd name="adj" fmla="val 30000"/>
            </a:avLst>
          </a:prstGeom>
          <a:solidFill>
            <a:srgbClr val="FFFFFF"/>
          </a:solidFill>
          <a:ln w="6350">
            <a:solidFill>
              <a:srgbClr val="E3E7EC"/>
            </a:solidFill>
          </a:ln>
        </p:spPr>
        <p:txBody>
          <a:bodyPr wrap="square" lIns="0" tIns="0" rIns="0" bIns="0" rtlCol="0" anchor="ctr"/>
          <a:lstStyle/>
          <a:p>
            <a:pPr algn="ctr" indent="0" marL="0">
              <a:buNone/>
            </a:pPr>
            <a:r>
              <a:rPr lang="en-US" sz="650" dirty="0">
                <a:solidFill>
                  <a:srgbClr val="5C6770"/>
                </a:solidFill>
                <a:latin typeface="Consolas" pitchFamily="34" charset="0"/>
                <a:ea typeface="Consolas" pitchFamily="34" charset="-122"/>
                <a:cs typeface="Consolas" pitchFamily="34" charset="-120"/>
              </a:rPr>
              <a:t>github.com/Tomica-git/portfolio</a:t>
            </a:r>
            <a:endParaRPr lang="en-US" sz="650" dirty="0"/>
          </a:p>
        </p:txBody>
      </p:sp>
      <p:sp>
        <p:nvSpPr>
          <p:cNvPr id="26" name="Shape 24"/>
          <p:cNvSpPr/>
          <p:nvPr/>
        </p:nvSpPr>
        <p:spPr>
          <a:xfrm>
            <a:off x="5074920" y="1499616"/>
            <a:ext cx="1554480" cy="109728"/>
          </a:xfrm>
          <a:prstGeom prst="rect">
            <a:avLst/>
          </a:prstGeom>
          <a:solidFill>
            <a:srgbClr val="2F5D8A"/>
          </a:solidFill>
          <a:ln/>
        </p:spPr>
      </p:sp>
      <p:sp>
        <p:nvSpPr>
          <p:cNvPr id="27" name="Shape 25"/>
          <p:cNvSpPr/>
          <p:nvPr/>
        </p:nvSpPr>
        <p:spPr>
          <a:xfrm>
            <a:off x="5074920" y="1737360"/>
            <a:ext cx="2468880" cy="64008"/>
          </a:xfrm>
          <a:prstGeom prst="rect">
            <a:avLst/>
          </a:prstGeom>
          <a:solidFill>
            <a:srgbClr val="E6EAEE"/>
          </a:solidFill>
          <a:ln/>
        </p:spPr>
      </p:sp>
      <p:sp>
        <p:nvSpPr>
          <p:cNvPr id="28" name="Shape 26"/>
          <p:cNvSpPr/>
          <p:nvPr/>
        </p:nvSpPr>
        <p:spPr>
          <a:xfrm>
            <a:off x="5074920" y="1865376"/>
            <a:ext cx="2194560" cy="64008"/>
          </a:xfrm>
          <a:prstGeom prst="rect">
            <a:avLst/>
          </a:prstGeom>
          <a:solidFill>
            <a:srgbClr val="E6EAEE"/>
          </a:solidFill>
          <a:ln/>
        </p:spPr>
      </p:sp>
      <p:sp>
        <p:nvSpPr>
          <p:cNvPr id="29" name="Shape 27"/>
          <p:cNvSpPr/>
          <p:nvPr/>
        </p:nvSpPr>
        <p:spPr>
          <a:xfrm>
            <a:off x="5074920" y="1993392"/>
            <a:ext cx="2331720" cy="64008"/>
          </a:xfrm>
          <a:prstGeom prst="rect">
            <a:avLst/>
          </a:prstGeom>
          <a:solidFill>
            <a:srgbClr val="E6EAEE"/>
          </a:solidFill>
          <a:ln/>
        </p:spPr>
      </p:sp>
      <p:sp>
        <p:nvSpPr>
          <p:cNvPr id="30" name="Shape 28"/>
          <p:cNvSpPr/>
          <p:nvPr/>
        </p:nvSpPr>
        <p:spPr>
          <a:xfrm>
            <a:off x="5074920" y="2194560"/>
            <a:ext cx="914400" cy="82296"/>
          </a:xfrm>
          <a:prstGeom prst="rect">
            <a:avLst/>
          </a:prstGeom>
          <a:solidFill>
            <a:srgbClr val="2F8A7D"/>
          </a:solidFill>
          <a:ln/>
        </p:spPr>
      </p:sp>
      <p:sp>
        <p:nvSpPr>
          <p:cNvPr id="31" name="Shape 29"/>
          <p:cNvSpPr/>
          <p:nvPr/>
        </p:nvSpPr>
        <p:spPr>
          <a:xfrm>
            <a:off x="5074920" y="2395728"/>
            <a:ext cx="2377440" cy="64008"/>
          </a:xfrm>
          <a:prstGeom prst="rect">
            <a:avLst/>
          </a:prstGeom>
          <a:solidFill>
            <a:srgbClr val="E6EAEE"/>
          </a:solidFill>
          <a:ln/>
        </p:spPr>
      </p:sp>
      <p:sp>
        <p:nvSpPr>
          <p:cNvPr id="32" name="Shape 30"/>
          <p:cNvSpPr/>
          <p:nvPr/>
        </p:nvSpPr>
        <p:spPr>
          <a:xfrm>
            <a:off x="5074920" y="2523744"/>
            <a:ext cx="1828800" cy="64008"/>
          </a:xfrm>
          <a:prstGeom prst="rect">
            <a:avLst/>
          </a:prstGeom>
          <a:solidFill>
            <a:srgbClr val="E6EAEE"/>
          </a:solidFill>
          <a:ln/>
        </p:spPr>
      </p:sp>
      <p:sp>
        <p:nvSpPr>
          <p:cNvPr id="33" name="Shape 31"/>
          <p:cNvSpPr/>
          <p:nvPr/>
        </p:nvSpPr>
        <p:spPr>
          <a:xfrm>
            <a:off x="5074920" y="2743200"/>
            <a:ext cx="731520" cy="82296"/>
          </a:xfrm>
          <a:prstGeom prst="rect">
            <a:avLst/>
          </a:prstGeom>
          <a:solidFill>
            <a:srgbClr val="2F8A7D"/>
          </a:solidFill>
          <a:ln/>
        </p:spPr>
      </p:sp>
      <p:sp>
        <p:nvSpPr>
          <p:cNvPr id="34" name="Shape 32"/>
          <p:cNvSpPr/>
          <p:nvPr/>
        </p:nvSpPr>
        <p:spPr>
          <a:xfrm>
            <a:off x="5074920" y="2944368"/>
            <a:ext cx="2286000" cy="64008"/>
          </a:xfrm>
          <a:prstGeom prst="rect">
            <a:avLst/>
          </a:prstGeom>
          <a:solidFill>
            <a:srgbClr val="E6EAEE"/>
          </a:solidFill>
          <a:ln/>
        </p:spPr>
      </p:sp>
      <p:sp>
        <p:nvSpPr>
          <p:cNvPr id="35" name="Shape 33"/>
          <p:cNvSpPr/>
          <p:nvPr/>
        </p:nvSpPr>
        <p:spPr>
          <a:xfrm>
            <a:off x="5074920" y="3072384"/>
            <a:ext cx="1554480" cy="64008"/>
          </a:xfrm>
          <a:prstGeom prst="rect">
            <a:avLst/>
          </a:prstGeom>
          <a:solidFill>
            <a:srgbClr val="E6EAEE"/>
          </a:solidFill>
          <a:ln/>
        </p:spPr>
      </p:sp>
      <p:sp>
        <p:nvSpPr>
          <p:cNvPr id="36" name="Shape 34"/>
          <p:cNvSpPr/>
          <p:nvPr/>
        </p:nvSpPr>
        <p:spPr>
          <a:xfrm>
            <a:off x="5074920" y="3200400"/>
            <a:ext cx="2103120" cy="64008"/>
          </a:xfrm>
          <a:prstGeom prst="rect">
            <a:avLst/>
          </a:prstGeom>
          <a:solidFill>
            <a:srgbClr val="E6EAEE"/>
          </a:solidFill>
          <a:ln/>
        </p:spPr>
      </p:sp>
      <p:sp>
        <p:nvSpPr>
          <p:cNvPr id="37" name="Shape 35"/>
          <p:cNvSpPr/>
          <p:nvPr/>
        </p:nvSpPr>
        <p:spPr>
          <a:xfrm>
            <a:off x="7909560" y="2788920"/>
            <a:ext cx="868680" cy="868680"/>
          </a:xfrm>
          <a:prstGeom prst="roundRect">
            <a:avLst>
              <a:gd name="adj" fmla="val 6316"/>
            </a:avLst>
          </a:prstGeom>
          <a:solidFill>
            <a:srgbClr val="FFFFFF"/>
          </a:solidFill>
          <a:ln w="15875">
            <a:solidFill>
              <a:srgbClr val="B9C5CF"/>
            </a:solidFill>
            <a:prstDash val="dash"/>
          </a:ln>
        </p:spPr>
      </p:sp>
      <p:sp>
        <p:nvSpPr>
          <p:cNvPr id="38" name="Text 36"/>
          <p:cNvSpPr/>
          <p:nvPr/>
        </p:nvSpPr>
        <p:spPr>
          <a:xfrm>
            <a:off x="7909560" y="2788920"/>
            <a:ext cx="868680" cy="868680"/>
          </a:xfrm>
          <a:prstGeom prst="rect">
            <a:avLst/>
          </a:prstGeom>
          <a:noFill/>
          <a:ln/>
        </p:spPr>
        <p:txBody>
          <a:bodyPr wrap="square" lIns="0" tIns="0" rIns="0" bIns="0" rtlCol="0" anchor="ctr"/>
          <a:lstStyle/>
          <a:p>
            <a:pPr algn="ctr" indent="0" marL="0">
              <a:lnSpc>
                <a:spcPct val="130000"/>
              </a:lnSpc>
              <a:buNone/>
            </a:pPr>
            <a:r>
              <a:rPr lang="en-US" sz="700" dirty="0">
                <a:solidFill>
                  <a:srgbClr val="8A949E"/>
                </a:solidFill>
                <a:latin typeface="Yu Gothic" pitchFamily="34" charset="0"/>
                <a:ea typeface="Yu Gothic" pitchFamily="34" charset="-122"/>
                <a:cs typeface="Yu Gothic" pitchFamily="34" charset="-120"/>
              </a:rPr>
              <a:t>QRコード</a:t>
            </a:r>
            <a:endParaRPr lang="en-US" sz="700" dirty="0"/>
          </a:p>
          <a:p>
            <a:pPr algn="ctr" indent="0" marL="0">
              <a:lnSpc>
                <a:spcPct val="130000"/>
              </a:lnSpc>
              <a:buNone/>
            </a:pPr>
            <a:r>
              <a:rPr lang="en-US" sz="700" dirty="0">
                <a:solidFill>
                  <a:srgbClr val="8A949E"/>
                </a:solidFill>
                <a:latin typeface="Yu Gothic" pitchFamily="34" charset="0"/>
                <a:ea typeface="Yu Gothic" pitchFamily="34" charset="-122"/>
                <a:cs typeface="Yu Gothic" pitchFamily="34" charset="-120"/>
              </a:rPr>
              <a:t>配置スペース</a:t>
            </a:r>
            <a:endParaRPr lang="en-US" sz="700" dirty="0"/>
          </a:p>
        </p:txBody>
      </p:sp>
      <p:sp>
        <p:nvSpPr>
          <p:cNvPr id="39" name="Text 37"/>
          <p:cNvSpPr/>
          <p:nvPr/>
        </p:nvSpPr>
        <p:spPr>
          <a:xfrm>
            <a:off x="457200" y="4818888"/>
            <a:ext cx="6949440" cy="219456"/>
          </a:xfrm>
          <a:prstGeom prst="rect">
            <a:avLst/>
          </a:prstGeom>
          <a:noFill/>
          <a:ln/>
        </p:spPr>
        <p:txBody>
          <a:bodyPr wrap="square" lIns="0" tIns="0" rIns="0" bIns="0" rtlCol="0" anchor="ctr"/>
          <a:lstStyle/>
          <a:p>
            <a:pPr indent="0" marL="0">
              <a:buNone/>
            </a:pPr>
            <a:r>
              <a:rPr lang="en-US" sz="750" dirty="0">
                <a:solidFill>
                  <a:srgbClr val="8A949E"/>
                </a:solidFill>
                <a:latin typeface="Yu Gothic" pitchFamily="34" charset="0"/>
                <a:ea typeface="Yu Gothic" pitchFamily="34" charset="-122"/>
                <a:cs typeface="Yu Gothic" pitchFamily="34" charset="-120"/>
              </a:rPr>
              <a:t>本資料は個人ポートフォリオです。特定の企業名・製品名・実測データは含みません。</a:t>
            </a:r>
            <a:endParaRPr lang="en-US" sz="750" dirty="0"/>
          </a:p>
        </p:txBody>
      </p:sp>
      <p:sp>
        <p:nvSpPr>
          <p:cNvPr id="40" name="Text 38"/>
          <p:cNvSpPr/>
          <p:nvPr/>
        </p:nvSpPr>
        <p:spPr>
          <a:xfrm>
            <a:off x="7680960" y="4818888"/>
            <a:ext cx="1005840" cy="219456"/>
          </a:xfrm>
          <a:prstGeom prst="rect">
            <a:avLst/>
          </a:prstGeom>
          <a:noFill/>
          <a:ln/>
        </p:spPr>
        <p:txBody>
          <a:bodyPr wrap="square" lIns="0" tIns="0" rIns="0" bIns="0" rtlCol="0" anchor="ctr"/>
          <a:lstStyle/>
          <a:p>
            <a:pPr algn="r" indent="0" marL="0">
              <a:buNone/>
            </a:pPr>
            <a:r>
              <a:rPr lang="en-US" sz="800" dirty="0">
                <a:solidFill>
                  <a:srgbClr val="8A949E"/>
                </a:solidFill>
                <a:latin typeface="Yu Gothic" pitchFamily="34" charset="0"/>
                <a:ea typeface="Yu Gothic" pitchFamily="34" charset="-122"/>
                <a:cs typeface="Yu Gothic" pitchFamily="34" charset="-120"/>
              </a:rPr>
              <a:t>07 / 07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半導体メモリ検査工程 Excel自動化実績（採用向けポートフォリオ)</dc:title>
  <dc:subject>PptxGenJS Presentation</dc:subject>
  <dc:creator>Portfolio</dc:creator>
  <cp:lastModifiedBy>Portfolio</cp:lastModifiedBy>
  <cp:revision>1</cp:revision>
  <dcterms:created xsi:type="dcterms:W3CDTF">2026-06-11T23:32:46Z</dcterms:created>
  <dcterms:modified xsi:type="dcterms:W3CDTF">2026-06-11T23:32:46Z</dcterms:modified>
</cp:coreProperties>
</file>